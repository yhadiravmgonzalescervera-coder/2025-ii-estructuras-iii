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9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370" y="-9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36.11738" units="1/cm"/>
          <inkml:channelProperty channel="Y" name="resolution" value="36.14458" units="1/cm"/>
          <inkml:channelProperty channel="T" name="resolution" value="1" units="1/dev"/>
        </inkml:channelProperties>
      </inkml:inkSource>
      <inkml:timestamp xml:id="ts0" timeString="2025-09-01T15:26:24.293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33845 17611 0,'0'0'0,"0"1418"15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T" name="resolution" value="1" units="1/dev"/>
        </inkml:channelProperties>
      </inkml:inkSource>
      <inkml:timestamp xml:id="ts0" timeString="2025-09-01T15:29:45.22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17944 13437 0,'0'0'0,"0"0"0,0 0 0,0 0 0,0 0 16,2 6-16,1-2 0,1 2 16,-2 1-16,5 5 0,-3-3 15,5-1-15,-2 1 0,2 0 16,-1-2-16,2 0 16,-2-1-1,3 1-15,-1-4 0,0 3 0,-1-2 16,1-2-16,-1 0 0,2-2 0,-1-2 0,0 0 0,1 0 15,-1-3-15,-4 1 0,7-6 16,1-2-16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36.11738" units="1/cm"/>
          <inkml:channelProperty channel="Y" name="resolution" value="36.14458" units="1/cm"/>
          <inkml:channelProperty channel="T" name="resolution" value="1" units="1/dev"/>
        </inkml:channelProperties>
      </inkml:inkSource>
      <inkml:timestamp xml:id="ts0" timeString="2025-09-01T15:46:20.0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1947 1207 0,'0'21'94,"-42"-21"-79,42 63-15,-21 43 16,-22-64-1,43 43 1,0-21 0,0-22-16,0 21 31,22-41-15,83 62-1,-41-84 1,-1 0-1,-20-42 1,-1 0-16,-21 20 16,43-20-16,-43-43 15,21 22 1,-42-1 0,0 1-1,-21 21 1,-64-22-1,-42 64 1,0 0 15,64 21-31,42 22 0,0 20 32,21-21-17,42 22 1,-21-64-16</inkml:trace>
  <inkml:trace contextRef="#ctx0" brushRef="#br0" timeOffset="540.21">2371 1693 0,'0'-21'16,"0"0"-16,0-21 16,0-1 15,0 22-16,21 21-15,0 0 16,0 0 15,-21 64 16,0-22-31,0-21-1,0 22 1,0-22 0,42 21-1,-20-42 1,-1-21 0,21-43-1,-21 1 1,-21 42-1,0 0 1</inkml:trace>
  <inkml:trace contextRef="#ctx0" brushRef="#br0" timeOffset="697.83">2582 1418 0,'0'-21'32,"21"21"-17,22 0 1,-22 0 0</inkml:trace>
  <inkml:trace contextRef="#ctx0" brushRef="#br0" timeOffset="2045.26">2773 1566 0,'0'-21'15,"-21"21"48,-22 43-48,43-1 1,0 0 0,21-42-1,1 0 1,-1 0-1,-21-21 1,42-42 0,-21 41-1,-21 44 48,0-1-48,0 21-15,0 43 16,0 21 0,0-22-1,0 1 1,0-22 0,0-20-16,-42-1 15,63 0 1,0 1-16,-63-43 15,21 0 1,-64-43 0,85 22 15,0 0-15,64-42-1,20 20 1,-20-20-1,-22 20 1,22-20 0,-22 21-1,0-64 1,-21 63 0,-21 22-1,-21 21 32,-21 43-31,42-22-1,0 0-15,0 42 16,0-20 0,63-43 15,-41-21-16,-22-1 1,63-62 0,-63 41-1,21 1 1,-21 21 0,43 21-1,-22 0 1,-21 42-1,0 1 17,0-22-17,0 42 1,42-84 46,-42 0-62,21 21 0,0-64 16,22 22 0,-1 42 15,-42 21-15,0 0-1,0 1 1,0-1-16,0 42 15,0-42 1</inkml:trace>
  <inkml:trace contextRef="#ctx0" brushRef="#br0" timeOffset="2252.03">3683 1736 0,'42'0'93</inkml:trace>
  <inkml:trace contextRef="#ctx0" brushRef="#br0" timeOffset="2601.02">3746 1609 0,'22'0'109,"20"0"-77,-42-21-32,-21-22 31,0 64-15</inkml:trace>
  <inkml:trace contextRef="#ctx0" brushRef="#br0" timeOffset="3156.56">4360 1312 0,'0'0'0,"0"-42"0,-21 42 46,-21 42-30,21 1 0,-43 41-1,-21 65 1,64-65 0,21-41-16,0-1 15,21 0 1,22-21-1,20-21 17,22-42-32</inkml:trace>
  <inkml:trace contextRef="#ctx0" brushRef="#br0" timeOffset="3838.08">4487 1588 0,'-42'0'16,"0"0"-1,42 21 1,-43 0 0,22 42-1,21-20 1,0-22-1,106-21 1,-64 0 0,1-42-1,-22 20 1,-21 1 0,0 0-1,-43-21 1,65 42 46,20 0-46,-21 0 0,21 0-1,-42 42 16,0-21-15,0 0 0,22 22-1,20-43 1,0 0 15,22-21-31,-43-43 31,21-84-31,1 63 0,-43-42 16,0 21 15,0 43-15,0 21 0</inkml:trace>
  <inkml:trace contextRef="#ctx0" brushRef="#br0" timeOffset="4060.24">4762 1334 0,'43'0'46,"-22"0"-30,21 0-16,-21 0 16,1 0-1,20 21 1</inkml:trace>
  <inkml:trace contextRef="#ctx0" brushRef="#br0" timeOffset="4804.5">4974 1630 0,'0'0'15,"42"0"17,-20-21-17,41-22 1,1-20 0,-22 42-1,-42 0-15,0-22 31,-21 43-15,21 21 0,-43 22-1,22-43-15,21 42 16,0 22 0,0-43-1,43-42 16,-1-22-15,21-41 0,-41 62-1,20 1 1,-42 64 15,-21-22-15,21 42-1,0 85 1,0 22 0,0-86-1,0-62 1,0 20 0,-21-42-16,21 21 15,-43-21-15,1 42 16,0-42-1,20 0 1,22-21 0,0-42-1</inkml:trace>
  <inkml:trace contextRef="#ctx0" brushRef="#br0" timeOffset="5057.81">5524 1566 0,'-21'0'15,"21"22"48,0-1-48,21-21 17,85 0-17,-21 0 1</inkml:trace>
  <inkml:trace contextRef="#ctx0" brushRef="#br0" timeOffset="5868.58">5948 1715 0,'0'-22'31,"0"-20"-15,21-106-16,21 0 15,-42 42 1,21 42 0,-21 86 31,0 20-32,0 85 1,0 0-1,0-85-15,43-21 16,-22 22 0,21-43-1,1-85 1,62-105 0,-83 84-1,-22 63 1,0 86 15,0 63-15,0 21-1,0-43 1,0-41 15</inkml:trace>
  <inkml:trace contextRef="#ctx0" brushRef="#br0" timeOffset="6231.31">6498 1418 0,'-21'0'15,"0"0"1,21 64 0,0-22-1,0 0 1,0-20 0,42-22 15,0 0-31,1-22 15,-43-20 1,0-21 15,-64 63-15,43 0 0</inkml:trace>
  <inkml:trace contextRef="#ctx0" brushRef="#br0" timeOffset="6515.85">6816 1037 0,'0'21'31,"0"1"-31,-22 62 16,22 43-1,-21-21 1,21-42 15,0-43-15</inkml:trace>
  <inkml:trace contextRef="#ctx0" brushRef="#br0" timeOffset="6721.71">6646 1355 0,'21'0'47,"1"0"-32,20 0-15,-21-21 0,43 21 16,-22 0 0,-21 0-1</inkml:trace>
  <inkml:trace contextRef="#ctx0" brushRef="#br0" timeOffset="7260.32">6964 1355 0,'-43'0'31,"43"42"-15,-21 0-1,0 1 1,21-22 0,0 21-1,42-42 1,1 0 0,-1 0-16,-21-42 15,22 0 1,-43 20-1,-22-20 1,1 0 0,21 21-1,43 21 32,-22 0-16,0 0-31,21 0 0,-21 0 16,1 0 0,-22 42 15,0 0-15,0-21 15,21-21-16</inkml:trace>
  <inkml:trace contextRef="#ctx0" brushRef="#br0" timeOffset="7767.56">7535 1249 0,'0'-21'16,"0"0"0,-21 21-16,-21 0 15,-1 21 17,-41 42-17,41-20 1,43-1-1,0 0-15,0-21 16,64-21 0,-22 0-1,22-63 1,-22 42-16,-21-22 31,-21 65 16,0 41-47,0-21 31,21-42-31,64 0 16,21 0 0,-64-42-1,22 21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T" name="resolution" value="1" units="1/dev"/>
        </inkml:channelProperties>
      </inkml:inkSource>
      <inkml:timestamp xml:id="ts0" timeString="2025-09-01T15:51:27.3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20436 15957 0,'0'0'0</inkml:trace>
  <inkml:trace contextRef="#ctx0" brushRef="#br0" timeOffset="433.51">20666 15831 0,'0'0'0</inkml:trace>
  <inkml:trace contextRef="#ctx0" brushRef="#br0" timeOffset="674.27">20820 15656 0,'0'0'0,"0"0"0,0 0 0,0 0 0,0 0 15</inkml:trace>
  <inkml:trace contextRef="#ctx0" brushRef="#br0" timeOffset="1864.27">28060 17893 0,'0'0'0,"17"0"0,-2 0 0,7 5 16,-1-4-16,10 6 0,0 0 16,5 2-16,-2 0 0,1 4 0,1-2 15,-36-11-15,0 0 0,33 14 0,1-3 16,-9 0-1,-1-2-15,-24-9 16,0 0-16,19 11 0,-2-2 0,-6 2 0,-2-1 16,-9-10-16,0 0 0,0 11 0,0-2 15,9 2-15,-3-2 0,23 6 0,1-2 16</inkml:trace>
  <inkml:trace contextRef="#ctx0" brushRef="#br0" timeOffset="51503.75">12741 6556 0,'0'0'0,"0"0"0,0 0 0,0 0 0,0 0 0,-2 1 0,-3-1 0,-4 2 16,1 0-16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36.11738" units="1/cm"/>
          <inkml:channelProperty channel="Y" name="resolution" value="36.14458" units="1/cm"/>
          <inkml:channelProperty channel="T" name="resolution" value="1" units="1/dev"/>
        </inkml:channelProperties>
      </inkml:inkSource>
      <inkml:timestamp xml:id="ts0" timeString="2025-09-01T16:18:30.184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11388 9335 0,'21'0'79,"0"0"-79,0 0 15,21 0 1,1 0-16,41 0 15,22 0 1,21 0 0,148 0-1,-105 0 1,20 0 0,22-43-1,-22 1 16,-105 42-31,21 0 0,0-42 0,0 42 16,-43 0 0,43 0-1,21 0 1,-21 0 0,-22 0 15,-84 0-31,43 0 15,-1-22 1,-21 22 0,22 0 62,-43-21-78</inkml:trace>
  <inkml:trace contextRef="#ctx0" brushRef="#br0" timeOffset="1464.27">9800 13610 0,'21'-42'47,"22"42"-31,-22 0-1,21 0 1,22-21-1,20 21 1,1-21 0,63 21-1,-42 0-15,21 0 16,0-43 0,21 43-1,106 0 1,-148 0-16,190-42 15,-21 0 17,-211 63-32,-106 21 15,84 22 1,-21-64-16,43-22 16,-43 22 15,0 0 16,-21-21-32,0 0 17</inkml:trace>
  <inkml:trace contextRef="#ctx0" brushRef="#br0" timeOffset="2930.89">18161 12954 0,'21'21'141,"0"-21"-141,43 0 16,-1 0-16,149 0 15,42 0 1,63 0-1,-211 0-15,127 0 16,-85 0 15,-63 0-15,-43 0 0,-21 0-1,-21 21 48,-42-21-48,-21 85-15</inkml:trace>
  <inkml:trace contextRef="#ctx0" brushRef="#br0" timeOffset="8688.44">9737 12573 0,'0'0'0,"0"-21"0,0-21 15,0-1 1,0 22 0,0-21-1,21 42 1,-21-43 0,42 43-1,-21 0 1,0 0-1,-21 22 17,43-1-17,-43 21-15,0 22 16,-21-1 0,-22 43-1,1-64 1,-64 64 15,64-85-15,-1 0-1,22-21 1,21-21 15,21 21 16,22 0-31,20 0-1,-42 21-15,22-21 16,-1 43 0,0-43-1,1 0 1,-1 0-1,-21-43 1,-21 22 0,21-21-1</inkml:trace>
  <inkml:trace contextRef="#ctx0" brushRef="#br0" timeOffset="9085.84">10287 12298 0,'-21'0'32,"-22"63"-17,-20 22 1,21 21 0,-1 21-1,22 127 1,21-169-1,0-22 1,21-42 0,22-21-1,-1 0 1,-21 0-16</inkml:trace>
  <inkml:trace contextRef="#ctx0" brushRef="#br0" timeOffset="9847.17">12531 12192 0,'21'0'47,"21"0"-32,0 0 1,-42 21-16,22 85 16,-22-21-1,42 21 1,-42-1 0,-21 22 15,-22-21-16,1-21 1,0-64 0,21 43-1,-1-64 32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T" name="resolution" value="1" units="1/dev"/>
        </inkml:channelProperties>
      </inkml:inkSource>
      <inkml:timestamp xml:id="ts0" timeString="2025-09-01T16:19:07.92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33263 18606 0,'0'0'0,"-2"-3"0,-1 1 0,-3 0 0,-4-3 0,2 1 0,-3 1 16,-1 0-16,1-2 0,3 3 15,-2-2-15,2 1 0,-3 1 16,-1 2-16,0-2 0,2-1 16,-4 1-16,3 2 15,0 0-15,-1 0 0,2-3 0,-4 3 16,1-1-16,2 1 0,-1 0 15,1 0-15,-2 0 0,0 1 16,-1 2-16,-5 2 0,-1-3 16,-5 5-16,2-1 0,0 1 0,-1-1 15,-4 1-15,-1 0 16,-5 5-16,1-3 0,-11 1 0,-2 2 16,-2 3-16,-4 0 0,0 6 0,1-3 31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657.57574" units="1/cm"/>
          <inkml:channelProperty channel="T" name="resolution" value="1" units="1/dev"/>
        </inkml:channelProperties>
      </inkml:inkSource>
      <inkml:timestamp xml:id="ts0" timeString="2025-09-01T16:21:41.451"/>
    </inkml:context>
    <inkml:brush xml:id="br0">
      <inkml:brushProperty name="width" value="0.05292" units="cm"/>
      <inkml:brushProperty name="height" value="0.05292" units="cm"/>
    </inkml:brush>
    <inkml:context xml:id="ctx1">
      <inkml:inkSource xml:id="inkSrc2">
        <inkml:traceFormat>
          <inkml:channel name="X" type="integer" max="32767" units="cm"/>
          <inkml:channel name="Y" type="integer" max="18432" units="cm"/>
          <inkml:channel name="F" type="integer" max="4095" units="cm"/>
          <inkml:channel name="T" type="integer" max="2.14748E9" units="dev"/>
        </inkml:traceFormat>
        <inkml:channelProperties>
          <inkml:channelProperty channel="X" name="resolution" value="377.1958" units="1/cm"/>
          <inkml:channelProperty channel="Y" name="resolution" value="369.89764" units="1/cm"/>
          <inkml:channelProperty channel="F" name="resolution" value="82.17941" units="1/cm"/>
          <inkml:channelProperty channel="T" name="resolution" value="1" units="1/dev"/>
        </inkml:channelProperties>
      </inkml:inkSource>
      <inkml:timestamp xml:id="ts1" timeString="2025-09-01T16:21:42.456"/>
    </inkml:context>
  </inkml:definitions>
  <inkml:trace contextRef="#ctx0" brushRef="#br0">12616 9839 0,'0'0'0,"0"0"0,0 0 0,0 0 0,0 0 0,0 0 16,0 0-16,0 0 0,0 0 16,0 4-16,-2 1 0,-2 1 15,2-2-15,0 7 0,0-1 16,2-1-16,-2 0 0,2 1 16,0-5-16,0 5 0,-2-4 15,2-1-15,0-1 0,-2-2 0,-1 1 16</inkml:trace>
  <inkml:trace contextRef="#ctx0" brushRef="#br0" timeOffset="957.76">19361 12994 0,'10'-3'0,"-51"12"0,41-9 0,-19 4 0,-1 14 0,1-3 0,-2-6 0,1 0 16,6-7-16,-2 1 0,5-17 16,-2-1-16,6 10 0,0-1 31,3 1-31,-2 1 0,3 8 31,-1-1-31,0-3 0,-2-3 0,6 6 0,-2-1 16,-2-2-16,0 0 0,17 4 15,-2-2-15,12-2 0,-2 0 16,5 3-16,-3-1 0,-23 0 16,-2-2-16,-8 3 0,-1-2 15,4 2-15,0-3 0,2 3 16,1-3-16,-1 3 0,-1 1 0,2 1 16,-3-3-16,5 1 0,-1-1 15,3 1-15,-2-1 16,2 2-16,-3-2 0,6 4 0,-3-3 15,0 2-15,-3-3 0,1 0 16,0 1-16,-2-2 0,0-1 16,-1 3-16,1-3 0,10 2 15,1-1-15,-3 3 0,-2-2 16,0 0-16,1 0 0,-18-2 0,-2 0 16</inkml:trace>
  <inkml:trace contextRef="#ctx1" brushRef="#br0">19314 13007 255 0,'0'0'0'0,"4"-8"0"0,0-2 0 0,-15 8 0 0,-2-2 0 0,-3 2 0 0,1-2 0 0</inkml:trace>
  <inkml:trace contextRef="#ctx1" brushRef="#br0" timeOffset="511.01">19311 13180 255 0,'-2'2'0'0,"0"-16"0"0,-4 6 0 0,-8-1 0 0,-1-1 0 0,-10 0 0 0,0-3 0 0</inkml:trace>
  <inkml:trace contextRef="#ctx1" brushRef="#br0" timeOffset="637.98">19033 13101 255 0,'0'0'0'0,"49"-6"0"0,-3-3 0 16,-4-1 0-16,1 2 0 0</inkml:trace>
  <inkml:trace contextRef="#ctx1" brushRef="#br0" timeOffset="1358.34">11821 9936 255 0,'4'2'0'0,"-22"-8"0"0,9 3 0 0,1-1 0 0,-4 0 0 0,1-1 0 0,-2 0 0 0,-1 0 0 0,1 1 0 15</inkml:trace>
  <inkml:trace contextRef="#ctx0" brushRef="#br0" timeOffset="2666.59">17798 12869 0,'0'0'0,"0"0"0,0 0 0,-10 6 0,-2-5 0,5 5 0,1-5 16,0 4-16,-4-3 15,-4 3-15,-2-3 0,1 2 0,-1 0 16,1-8-16,-1 0 0,1-11 0,-4-1 16</inkml:trace>
  <inkml:trace contextRef="#ctx1" brushRef="#br0" timeOffset="6138.02">17935 13582 255 0,'0'0'0'0,"0"5"0"0,0-5 0 0,-2 4 0 0,-1 0 0 0,1-2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600" units="cm"/>
          <inkml:channel name="Y" type="integer" max="900" units="cm"/>
          <inkml:channel name="T" type="integer" max="2.14748E9" units="dev"/>
        </inkml:traceFormat>
        <inkml:channelProperties>
          <inkml:channelProperty channel="X" name="resolution" value="36.11738" units="1/cm"/>
          <inkml:channelProperty channel="Y" name="resolution" value="36.14458" units="1/cm"/>
          <inkml:channelProperty channel="T" name="resolution" value="1" units="1/dev"/>
        </inkml:channelProperties>
      </inkml:inkSource>
      <inkml:timestamp xml:id="ts0" timeString="2025-09-01T17:16:24.43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14055 3704 0,'-43'0'0,"64"0"94,1 0-94,-1 0 15,21 0 1,22 0 0,-1-21-1,22 21 17,-43 0-17,22 0 1,-1 0-1,1 0 1,-22 0-16,0 0 16,22-21-1,-43 21 1,21 0 0,64 0-1,-42 0 1,-1 0-1,1 0 1,-43 0 15,21 0-31,0 0 0,22 0 16,-22 0 0,22 0-1,42 0 16,-64 0-15,21 0 0,22 0-1,-64 0-15,22 0 16,41 0 0,-20 0-1,-1 0 16,1 0-31,-1 0 16,-20 0 0,41 0-1,-41 0 1,20 0 0,-42 0-16,22 0 15,20 0 1,1 0-1,-1 0 1,22 0 15,21 0-15,-43 0 0,22-21-1,-43 21 16,64 0-15,0 0 0,21 0-1,-21-43 1,-85 43 0,42 0-16,-42 0 15,22 0 1,-22 0-1,21 0 1,-21 0-16,43 0 16,-1 0-1,-20 0 1,-1 43 0,43-43-1,-43 0 16,0 0-15,-20 0 0,-1 0-16,85 0 31,-85 0-15,0 0 15,21 0-16,-21 0 1,1 0 15,-22-43 1,42 22-17,-42-21 1,21 42-16,-21-42 15,21 20 1,-21-20-16,0 0 31,0 21-15,0-43 0,21 22-1,-21 21 1,43-22-1,-43 22 1,0-21 0,0-22-1,21 22 1,-21 0 0,42-1-1,-42 22 16,21-21-31,-21-1 0,43 1 16,-43 21 0,21 0-1,0-64 17,21 22-32,-42 20 15,22 1 1,-22-22 15,0 22-15,0 0-1,0-22 1,0 22 0,0-22-1</inkml:trace>
  <inkml:trace contextRef="#ctx0" brushRef="#br0" timeOffset="2776.77">24532 2921 0,'-21'0'16,"-21"0"-1,-1 0 1,86 0 125,-22 0-126,21 0-15,106 0 16,43 0-1,-43 0-15,169 0 16,86 0 0,-65 42 15,-105 1-15,-169-1-16,-1-42 15,1 42-15,84 1 16,42-1-1,-20-42 1,-107 0 0,-42 0-1,-42 0 79,0 0-94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E739CC-F032-47BF-B0FD-06752CAD9A89}" type="datetimeFigureOut">
              <a:rPr lang="es-ES" smtClean="0"/>
              <a:t>14/09/2025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67B72-CCD7-4685-BFFA-1EF6DD1431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425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67B72-CCD7-4685-BFFA-1EF6DD14312B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3889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37090" y="0"/>
            <a:ext cx="6654668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162525" y="237591"/>
            <a:ext cx="732243" cy="80928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413384" cy="6857365"/>
          </a:xfrm>
          <a:custGeom>
            <a:avLst/>
            <a:gdLst/>
            <a:ahLst/>
            <a:cxnLst/>
            <a:rect l="l" t="t" r="r" b="b"/>
            <a:pathLst>
              <a:path w="413384" h="6857365">
                <a:moveTo>
                  <a:pt x="413283" y="0"/>
                </a:moveTo>
                <a:lnTo>
                  <a:pt x="413283" y="6857276"/>
                </a:lnTo>
                <a:lnTo>
                  <a:pt x="0" y="6857276"/>
                </a:lnTo>
                <a:lnTo>
                  <a:pt x="0" y="0"/>
                </a:lnTo>
                <a:lnTo>
                  <a:pt x="413283" y="0"/>
                </a:lnTo>
                <a:close/>
              </a:path>
            </a:pathLst>
          </a:custGeom>
          <a:solidFill>
            <a:srgbClr val="E421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06421" y="2524582"/>
            <a:ext cx="7585506" cy="940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4055" y="2352217"/>
            <a:ext cx="6287134" cy="1557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andro.ibanez@upsjb.edu.p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customXml" Target="../ink/ink1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.amboss.com/us/article/so0tWS#Z2367747e6c517988a17bdf152520182c" TargetMode="External"/><Relationship Id="rId2" Type="http://schemas.openxmlformats.org/officeDocument/2006/relationships/hyperlink" Target="https://next.amboss.com/us/article/Lo0wcS#Z4224d324188134290d99f44a379e40f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.amboss.com/us/article/Lo0wcS#Z368845222c5806ae6df0e05189e1e75d" TargetMode="External"/><Relationship Id="rId2" Type="http://schemas.openxmlformats.org/officeDocument/2006/relationships/hyperlink" Target="https://next.amboss.com/us/article/Lo0wcS#Z9f6ca1a93d178d68528ffbdbe09e407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x.doi.org/10.21542/gcsp.2016.11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8.png"/><Relationship Id="rId4" Type="http://schemas.openxmlformats.org/officeDocument/2006/relationships/customXml" Target="../ink/ink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" y="2761488"/>
            <a:ext cx="12186023" cy="157276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6096" y="2529839"/>
            <a:ext cx="12183110" cy="167640"/>
          </a:xfrm>
          <a:custGeom>
            <a:avLst/>
            <a:gdLst/>
            <a:ahLst/>
            <a:cxnLst/>
            <a:rect l="l" t="t" r="r" b="b"/>
            <a:pathLst>
              <a:path w="12183110" h="167639">
                <a:moveTo>
                  <a:pt x="12182856" y="167640"/>
                </a:moveTo>
                <a:lnTo>
                  <a:pt x="0" y="167640"/>
                </a:lnTo>
                <a:lnTo>
                  <a:pt x="0" y="0"/>
                </a:lnTo>
                <a:lnTo>
                  <a:pt x="12182856" y="0"/>
                </a:lnTo>
                <a:lnTo>
                  <a:pt x="12182856" y="167640"/>
                </a:lnTo>
                <a:close/>
              </a:path>
            </a:pathLst>
          </a:custGeom>
          <a:solidFill>
            <a:srgbClr val="E221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44070" y="2495550"/>
            <a:ext cx="1636395" cy="215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FFFFFF"/>
                </a:solidFill>
                <a:latin typeface="Lucida Sans Unicode"/>
                <a:cs typeface="Lucida Sans Unicode"/>
              </a:rPr>
              <a:t>@</a:t>
            </a:r>
            <a:r>
              <a:rPr sz="1250" spc="4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SAN</a:t>
            </a:r>
            <a:r>
              <a:rPr sz="1250" spc="-1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țUAN</a:t>
            </a:r>
            <a:r>
              <a:rPr sz="1250" spc="-1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5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BAUTISTA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12253" y="2983992"/>
            <a:ext cx="3456940" cy="262255"/>
          </a:xfrm>
          <a:custGeom>
            <a:avLst/>
            <a:gdLst/>
            <a:ahLst/>
            <a:cxnLst/>
            <a:rect l="l" t="t" r="r" b="b"/>
            <a:pathLst>
              <a:path w="3456940" h="262255">
                <a:moveTo>
                  <a:pt x="3456432" y="262128"/>
                </a:moveTo>
                <a:lnTo>
                  <a:pt x="0" y="262128"/>
                </a:lnTo>
                <a:lnTo>
                  <a:pt x="0" y="0"/>
                </a:lnTo>
                <a:lnTo>
                  <a:pt x="3456432" y="0"/>
                </a:lnTo>
                <a:lnTo>
                  <a:pt x="3456432" y="262128"/>
                </a:lnTo>
                <a:close/>
              </a:path>
            </a:pathLst>
          </a:custGeom>
          <a:solidFill>
            <a:srgbClr val="B61C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12253" y="3358896"/>
            <a:ext cx="4828540" cy="445134"/>
          </a:xfrm>
          <a:custGeom>
            <a:avLst/>
            <a:gdLst/>
            <a:ahLst/>
            <a:cxnLst/>
            <a:rect l="l" t="t" r="r" b="b"/>
            <a:pathLst>
              <a:path w="4828540" h="445135">
                <a:moveTo>
                  <a:pt x="4828032" y="445008"/>
                </a:moveTo>
                <a:lnTo>
                  <a:pt x="0" y="445008"/>
                </a:lnTo>
                <a:lnTo>
                  <a:pt x="0" y="0"/>
                </a:lnTo>
                <a:lnTo>
                  <a:pt x="4828032" y="0"/>
                </a:lnTo>
                <a:lnTo>
                  <a:pt x="4828032" y="445008"/>
                </a:lnTo>
                <a:close/>
              </a:path>
            </a:pathLst>
          </a:custGeom>
          <a:solidFill>
            <a:srgbClr val="C821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670409" y="2855976"/>
            <a:ext cx="4858385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00"/>
              </a:lnSpc>
              <a:spcBef>
                <a:spcPts val="100"/>
              </a:spcBef>
            </a:pPr>
            <a:r>
              <a:rPr sz="29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UNIYERIDAD</a:t>
            </a:r>
            <a:r>
              <a:rPr sz="2900" spc="-1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9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PRVADA</a:t>
            </a:r>
            <a:endParaRPr sz="2900">
              <a:latin typeface="Lucida Sans Unicode"/>
              <a:cs typeface="Lucida Sans Unicode"/>
            </a:endParaRPr>
          </a:p>
          <a:p>
            <a:pPr marL="32384">
              <a:lnSpc>
                <a:spcPts val="4500"/>
              </a:lnSpc>
              <a:tabLst>
                <a:tab pos="1146810" algn="l"/>
              </a:tabLst>
            </a:pPr>
            <a:r>
              <a:rPr sz="4150" spc="-310" dirty="0">
                <a:solidFill>
                  <a:srgbClr val="FFFFFF"/>
                </a:solidFill>
                <a:latin typeface="Calibri"/>
                <a:cs typeface="Calibri"/>
              </a:rPr>
              <a:t>SAN</a:t>
            </a:r>
            <a:r>
              <a:rPr sz="415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4150" spc="320" dirty="0">
                <a:solidFill>
                  <a:srgbClr val="FFFFFF"/>
                </a:solidFill>
                <a:latin typeface="Calibri"/>
                <a:cs typeface="Calibri"/>
              </a:rPr>
              <a:t>jUAN</a:t>
            </a:r>
            <a:r>
              <a:rPr sz="415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150" spc="150" dirty="0">
                <a:solidFill>
                  <a:srgbClr val="FFFFFF"/>
                </a:solidFill>
                <a:latin typeface="Calibri"/>
                <a:cs typeface="Calibri"/>
              </a:rPr>
              <a:t>BAUTISTA</a:t>
            </a:r>
            <a:endParaRPr sz="4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55" y="0"/>
            <a:ext cx="8255634" cy="6858000"/>
            <a:chOff x="-355" y="0"/>
            <a:chExt cx="8255634" cy="6858000"/>
          </a:xfrm>
        </p:grpSpPr>
        <p:sp>
          <p:nvSpPr>
            <p:cNvPr id="3" name="object 3"/>
            <p:cNvSpPr/>
            <p:nvPr/>
          </p:nvSpPr>
          <p:spPr>
            <a:xfrm>
              <a:off x="-355" y="0"/>
              <a:ext cx="7772400" cy="3966845"/>
            </a:xfrm>
            <a:custGeom>
              <a:avLst/>
              <a:gdLst/>
              <a:ahLst/>
              <a:cxnLst/>
              <a:rect l="l" t="t" r="r" b="b"/>
              <a:pathLst>
                <a:path w="7772400" h="3966845">
                  <a:moveTo>
                    <a:pt x="7772400" y="0"/>
                  </a:moveTo>
                  <a:lnTo>
                    <a:pt x="0" y="0"/>
                  </a:lnTo>
                  <a:lnTo>
                    <a:pt x="0" y="3966845"/>
                  </a:lnTo>
                  <a:lnTo>
                    <a:pt x="6610311" y="3960355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8255634" cy="5088890"/>
            </a:xfrm>
            <a:custGeom>
              <a:avLst/>
              <a:gdLst/>
              <a:ahLst/>
              <a:cxnLst/>
              <a:rect l="l" t="t" r="r" b="b"/>
              <a:pathLst>
                <a:path w="8255634" h="5088890">
                  <a:moveTo>
                    <a:pt x="8255165" y="0"/>
                  </a:moveTo>
                  <a:lnTo>
                    <a:pt x="0" y="0"/>
                  </a:lnTo>
                  <a:lnTo>
                    <a:pt x="0" y="5088597"/>
                  </a:lnTo>
                  <a:lnTo>
                    <a:pt x="6786003" y="5059083"/>
                  </a:lnTo>
                  <a:lnTo>
                    <a:pt x="8255165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-355" y="1523517"/>
              <a:ext cx="7594600" cy="3905885"/>
            </a:xfrm>
            <a:custGeom>
              <a:avLst/>
              <a:gdLst/>
              <a:ahLst/>
              <a:cxnLst/>
              <a:rect l="l" t="t" r="r" b="b"/>
              <a:pathLst>
                <a:path w="7594600" h="3905885">
                  <a:moveTo>
                    <a:pt x="7594561" y="0"/>
                  </a:moveTo>
                  <a:lnTo>
                    <a:pt x="0" y="0"/>
                  </a:lnTo>
                  <a:lnTo>
                    <a:pt x="0" y="3905288"/>
                  </a:lnTo>
                  <a:lnTo>
                    <a:pt x="6458750" y="3898798"/>
                  </a:lnTo>
                  <a:lnTo>
                    <a:pt x="7594561" y="0"/>
                  </a:lnTo>
                  <a:close/>
                </a:path>
              </a:pathLst>
            </a:custGeom>
            <a:solidFill>
              <a:srgbClr val="E121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-355" y="4749482"/>
              <a:ext cx="6477635" cy="2108200"/>
            </a:xfrm>
            <a:custGeom>
              <a:avLst/>
              <a:gdLst/>
              <a:ahLst/>
              <a:cxnLst/>
              <a:rect l="l" t="t" r="r" b="b"/>
              <a:pathLst>
                <a:path w="6477635" h="2108200">
                  <a:moveTo>
                    <a:pt x="6477114" y="0"/>
                  </a:moveTo>
                  <a:lnTo>
                    <a:pt x="0" y="0"/>
                  </a:lnTo>
                  <a:lnTo>
                    <a:pt x="0" y="2108161"/>
                  </a:lnTo>
                  <a:lnTo>
                    <a:pt x="5867273" y="2104199"/>
                  </a:lnTo>
                  <a:lnTo>
                    <a:pt x="6477114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58101" y="2788818"/>
            <a:ext cx="56597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FFFFFF"/>
                </a:solidFill>
                <a:latin typeface="Tahoma"/>
                <a:cs typeface="Tahoma"/>
              </a:rPr>
              <a:t>FISIOLOGIA</a:t>
            </a:r>
            <a:r>
              <a:rPr sz="4000" spc="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spc="160" dirty="0">
                <a:solidFill>
                  <a:srgbClr val="FFFFFF"/>
                </a:solidFill>
                <a:latin typeface="Tahoma"/>
                <a:cs typeface="Tahoma"/>
              </a:rPr>
              <a:t>MUSCULAR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101" y="4953139"/>
            <a:ext cx="4069079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Tahoma"/>
                <a:cs typeface="Tahoma"/>
              </a:rPr>
              <a:t>Docente: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ts val="2160"/>
              </a:lnSpc>
            </a:pPr>
            <a:r>
              <a:rPr sz="1800" spc="-114" dirty="0">
                <a:solidFill>
                  <a:srgbClr val="FFFFFF"/>
                </a:solidFill>
                <a:latin typeface="Arial Black"/>
                <a:cs typeface="Arial Black"/>
              </a:rPr>
              <a:t>Sandro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Arial Black"/>
                <a:cs typeface="Arial Black"/>
              </a:rPr>
              <a:t>Gabriel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 Ibañez</a:t>
            </a:r>
            <a:r>
              <a:rPr sz="1800" spc="-100" dirty="0">
                <a:solidFill>
                  <a:srgbClr val="FFFFFF"/>
                </a:solidFill>
                <a:latin typeface="Arial Black"/>
                <a:cs typeface="Arial Black"/>
              </a:rPr>
              <a:t> TImoteo,</a:t>
            </a:r>
            <a:r>
              <a:rPr sz="1800" spc="-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Arial Black"/>
                <a:cs typeface="Arial Black"/>
              </a:rPr>
              <a:t>MD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FFFFFF"/>
                </a:solidFill>
                <a:latin typeface="Tahoma"/>
                <a:cs typeface="Tahoma"/>
                <a:hlinkClick r:id="rId3"/>
              </a:rPr>
              <a:t>sandro.ibanez@upsjb.edu.pe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59536" y="2334145"/>
            <a:ext cx="33185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SESIÓN</a:t>
            </a:r>
            <a:r>
              <a:rPr sz="1800" spc="4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FFFFFF"/>
                </a:solidFill>
                <a:latin typeface="Tahoma"/>
                <a:cs typeface="Tahoma"/>
              </a:rPr>
              <a:t>PRÁCTICA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Tahoma"/>
                <a:cs typeface="Tahoma"/>
              </a:rPr>
              <a:t>SEMANA</a:t>
            </a:r>
            <a:r>
              <a:rPr sz="1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20" y="223558"/>
            <a:ext cx="1050124" cy="1160284"/>
          </a:xfrm>
          <a:prstGeom prst="rect">
            <a:avLst/>
          </a:prstGeom>
        </p:spPr>
      </p:pic>
    </p:spTree>
  </p:cSld>
  <p:clrMapOvr>
    <a:masterClrMapping/>
  </p:clrMapOvr>
  <p:transition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8037" y="254165"/>
            <a:ext cx="4676762" cy="58928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5698" y="6520230"/>
            <a:ext cx="102831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The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Cleveland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Clinic.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Muscles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Body: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types,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groups,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anatomy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&amp;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functions </a:t>
            </a:r>
            <a:r>
              <a:rPr sz="1100" spc="-10" dirty="0">
                <a:latin typeface="Calibri"/>
                <a:cs typeface="Calibri"/>
              </a:rPr>
              <a:t>[Internet].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Cleveland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Clinic.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Available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from: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https://my.clevelandclinic.org/health/body/21887-muscle.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6221" y="6372974"/>
            <a:ext cx="6252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Feher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JJ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Fisiología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Humana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Cuantitativa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Prensa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Académica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;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2017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829868"/>
              </p:ext>
            </p:extLst>
          </p:nvPr>
        </p:nvGraphicFramePr>
        <p:xfrm>
          <a:off x="1310042" y="2018156"/>
          <a:ext cx="9298939" cy="2823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4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4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4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444">
                <a:tc>
                  <a:txBody>
                    <a:bodyPr/>
                    <a:lstStyle/>
                    <a:p>
                      <a:pPr marL="91440">
                        <a:lnSpc>
                          <a:spcPts val="208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Fibra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muscular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8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Ubicación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208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Morfología</a:t>
                      </a:r>
                      <a:r>
                        <a:rPr sz="1800" b="1" spc="-7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celular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8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Sarcolema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91440" marR="861694">
                        <a:lnSpc>
                          <a:spcPts val="181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Fibra</a:t>
                      </a:r>
                      <a:r>
                        <a:rPr sz="18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muscular estriada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Músculo </a:t>
                      </a:r>
                      <a:r>
                        <a:rPr lang="es-PE" sz="1800" dirty="0" err="1">
                          <a:latin typeface="Times New Roman"/>
                          <a:cs typeface="Times New Roman"/>
                        </a:rPr>
                        <a:t>esqueletico</a:t>
                      </a: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 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   grandes alargados, ubicados en </a:t>
                      </a:r>
                      <a:r>
                        <a:rPr lang="es-PE" sz="1800" dirty="0" err="1">
                          <a:latin typeface="Times New Roman"/>
                          <a:cs typeface="Times New Roman"/>
                        </a:rPr>
                        <a:t>lak</a:t>
                      </a: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 periferia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   </a:t>
                      </a:r>
                      <a:r>
                        <a:rPr lang="es-PE" sz="1800" dirty="0" err="1">
                          <a:latin typeface="Times New Roman"/>
                          <a:cs typeface="Times New Roman"/>
                        </a:rPr>
                        <a:t>tubulo</a:t>
                      </a: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 T y dos cisternas terminales (triada)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Músculo cardiaco 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   1-2 núcleos ramificaciones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 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             =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marL="91440" marR="570230">
                        <a:lnSpc>
                          <a:spcPts val="181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Fibra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muscular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no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estriada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Músculo liso 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lang="es-PE" sz="1800" dirty="0" err="1">
                          <a:latin typeface="Times New Roman"/>
                          <a:cs typeface="Times New Roman"/>
                        </a:rPr>
                        <a:t>fuciforme</a:t>
                      </a: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 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1-núcleo central 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s-PE" sz="1800" dirty="0">
                          <a:latin typeface="Times New Roman"/>
                          <a:cs typeface="Times New Roman"/>
                        </a:rPr>
                        <a:t>caveolas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557" y="243001"/>
            <a:ext cx="4725365" cy="2607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885" y="243001"/>
            <a:ext cx="4736160" cy="2607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71277" y="3197529"/>
            <a:ext cx="3822484" cy="28609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4218" y="6271107"/>
            <a:ext cx="110801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Squire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JM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Contracción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muscular: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Historia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filamentos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deslizantes,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dinámica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sarcómero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Huxley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Glob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Cardiol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Sci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Pract.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2016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;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2016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(2)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: </a:t>
            </a:r>
            <a:r>
              <a:rPr sz="1400" spc="-10" dirty="0">
                <a:latin typeface="Calibri"/>
                <a:cs typeface="Calibri"/>
              </a:rPr>
              <a:t>p.e201611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doi: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10.21542/gcsp.2016.11.</a:t>
            </a:r>
            <a:endParaRPr sz="14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B24D9F00-54A1-4804-8D16-718B13319A18}"/>
                  </a:ext>
                </a:extLst>
              </p14:cNvPr>
              <p14:cNvContentPartPr/>
              <p14:nvPr/>
            </p14:nvContentPartPr>
            <p14:xfrm>
              <a:off x="12184200" y="6339960"/>
              <a:ext cx="360" cy="51084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B24D9F00-54A1-4804-8D16-718B13319A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174840" y="6330600"/>
                <a:ext cx="19080" cy="52956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CA9BAB55-E9B3-4373-9F84-2DE4620D24A1}"/>
              </a:ext>
            </a:extLst>
          </p:cNvPr>
          <p:cNvSpPr txBox="1"/>
          <p:nvPr/>
        </p:nvSpPr>
        <p:spPr>
          <a:xfrm>
            <a:off x="1375349" y="2815967"/>
            <a:ext cx="6118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Estriada </a:t>
            </a:r>
            <a:r>
              <a:rPr kumimoji="0" lang="es-PE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esqueletica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8C7A712-9862-4389-B404-38112B1E3971}"/>
              </a:ext>
            </a:extLst>
          </p:cNvPr>
          <p:cNvSpPr txBox="1"/>
          <p:nvPr/>
        </p:nvSpPr>
        <p:spPr>
          <a:xfrm>
            <a:off x="7466867" y="2862706"/>
            <a:ext cx="6118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Estriada </a:t>
            </a:r>
            <a:r>
              <a:rPr lang="es-PE" dirty="0" err="1"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m.cardiaco</a:t>
            </a:r>
            <a:endParaRPr lang="es-PE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B9924F-32F8-49F2-B987-5350078906CC}"/>
              </a:ext>
            </a:extLst>
          </p:cNvPr>
          <p:cNvSpPr txBox="1"/>
          <p:nvPr/>
        </p:nvSpPr>
        <p:spPr>
          <a:xfrm>
            <a:off x="7466867" y="4007525"/>
            <a:ext cx="6299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PE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 estriado, musculo liso, núcleo prominente</a:t>
            </a:r>
            <a:endParaRPr lang="es-P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9523" y="512279"/>
            <a:ext cx="8260194" cy="52243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3263" y="6237249"/>
            <a:ext cx="86207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Gotti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Sensini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Zucchelli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Carloni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Hierarchical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fibrous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structures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muscle-</a:t>
            </a:r>
            <a:r>
              <a:rPr sz="1200" dirty="0">
                <a:latin typeface="Calibri"/>
                <a:cs typeface="Calibri"/>
              </a:rPr>
              <a:t>inspired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soft-</a:t>
            </a:r>
            <a:r>
              <a:rPr sz="1200" spc="-10" dirty="0">
                <a:latin typeface="Calibri"/>
                <a:cs typeface="Calibri"/>
              </a:rPr>
              <a:t>actuators: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review. </a:t>
            </a:r>
            <a:r>
              <a:rPr sz="1200" dirty="0">
                <a:latin typeface="Calibri"/>
                <a:cs typeface="Calibri"/>
              </a:rPr>
              <a:t>Appl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Mater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Today.</a:t>
            </a:r>
            <a:r>
              <a:rPr sz="1200" spc="-20" dirty="0">
                <a:latin typeface="Calibri"/>
                <a:cs typeface="Calibri"/>
              </a:rPr>
              <a:t> 2020 </a:t>
            </a:r>
            <a:r>
              <a:rPr sz="1200" dirty="0">
                <a:latin typeface="Calibri"/>
                <a:cs typeface="Calibri"/>
              </a:rPr>
              <a:t>Sep;20:100772.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doi:10.1016/j.apmt.2020.100772.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3F4756BF-895E-452F-885E-B7D9B3B75B65}"/>
                  </a:ext>
                </a:extLst>
              </p14:cNvPr>
              <p14:cNvContentPartPr/>
              <p14:nvPr/>
            </p14:nvContentPartPr>
            <p14:xfrm>
              <a:off x="6459840" y="4837320"/>
              <a:ext cx="78480" cy="4140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3F4756BF-895E-452F-885E-B7D9B3B75B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50480" y="4827960"/>
                <a:ext cx="97200" cy="6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825" y="637451"/>
            <a:ext cx="85064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Estructuras</a:t>
            </a:r>
            <a:r>
              <a:rPr sz="4400" spc="-100" dirty="0"/>
              <a:t> </a:t>
            </a:r>
            <a:r>
              <a:rPr sz="4400" dirty="0"/>
              <a:t>de</a:t>
            </a:r>
            <a:r>
              <a:rPr sz="4400" spc="-100" dirty="0"/>
              <a:t> </a:t>
            </a:r>
            <a:r>
              <a:rPr sz="4400" dirty="0"/>
              <a:t>las</a:t>
            </a:r>
            <a:r>
              <a:rPr sz="4400" spc="-95" dirty="0"/>
              <a:t> </a:t>
            </a:r>
            <a:r>
              <a:rPr sz="4400" dirty="0"/>
              <a:t>células</a:t>
            </a:r>
            <a:r>
              <a:rPr sz="4400" spc="-95" dirty="0"/>
              <a:t> </a:t>
            </a:r>
            <a:r>
              <a:rPr sz="4400" spc="-10" dirty="0"/>
              <a:t>esqueléticas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255143" y="1592600"/>
            <a:ext cx="4806950" cy="181610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000" b="1" dirty="0">
                <a:latin typeface="Calibri"/>
                <a:cs typeface="Calibri"/>
              </a:rPr>
              <a:t>Sarcolema</a:t>
            </a:r>
            <a:r>
              <a:rPr sz="2000" b="1" spc="-10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(miolema)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170"/>
              </a:lnSpc>
              <a:spcBef>
                <a:spcPts val="1025"/>
              </a:spcBef>
            </a:pPr>
            <a:r>
              <a:rPr sz="2000" b="1" dirty="0">
                <a:latin typeface="Calibri"/>
                <a:cs typeface="Calibri"/>
              </a:rPr>
              <a:t>Definición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membrana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de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la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célula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muscular</a:t>
            </a:r>
            <a:r>
              <a:rPr sz="2000" spc="-50" dirty="0">
                <a:latin typeface="Calibri"/>
                <a:cs typeface="Calibri"/>
              </a:rPr>
              <a:t> ,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contiene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invaginaciones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membrana.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000" b="1" spc="-10" dirty="0">
                <a:latin typeface="Calibri"/>
                <a:cs typeface="Calibri"/>
              </a:rPr>
              <a:t>Características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sz="1800" spc="-20" dirty="0">
                <a:latin typeface="Calibri"/>
                <a:cs typeface="Calibri"/>
              </a:rPr>
              <a:t>Túbulos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transversales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túbulos</a:t>
            </a:r>
            <a:r>
              <a:rPr sz="18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T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2343" y="4348340"/>
            <a:ext cx="838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Caveolas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5885" y="1690192"/>
            <a:ext cx="5121719" cy="466848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8137" y="6475577"/>
            <a:ext cx="62528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Feher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JJ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Fisiología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Humana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Cuantitativa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Prensa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Académica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;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2017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055" y="753439"/>
            <a:ext cx="3636645" cy="127127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z="2100" b="1" spc="-10" dirty="0">
                <a:latin typeface="Calibri"/>
                <a:cs typeface="Calibri"/>
              </a:rPr>
              <a:t>Sarcoplasma</a:t>
            </a:r>
            <a:endParaRPr sz="2100">
              <a:latin typeface="Calibri"/>
              <a:cs typeface="Calibri"/>
            </a:endParaRPr>
          </a:p>
          <a:p>
            <a:pPr marL="12700" marR="5080">
              <a:lnSpc>
                <a:spcPts val="3270"/>
              </a:lnSpc>
              <a:spcBef>
                <a:spcPts val="100"/>
              </a:spcBef>
            </a:pPr>
            <a:r>
              <a:rPr sz="21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Citoplasma</a:t>
            </a:r>
            <a:r>
              <a:rPr sz="21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1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de</a:t>
            </a:r>
            <a:r>
              <a:rPr sz="21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1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la</a:t>
            </a:r>
            <a:r>
              <a:rPr sz="21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1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célula</a:t>
            </a:r>
            <a:r>
              <a:rPr sz="21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1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2"/>
              </a:rPr>
              <a:t>muscular</a:t>
            </a:r>
            <a:r>
              <a:rPr sz="2100" b="1" spc="-10" dirty="0">
                <a:latin typeface="Calibri"/>
                <a:cs typeface="Calibri"/>
              </a:rPr>
              <a:t> Contenido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/>
              <a:t>Retículo</a:t>
            </a:r>
            <a:r>
              <a:rPr spc="-75" dirty="0"/>
              <a:t> </a:t>
            </a:r>
            <a:r>
              <a:rPr spc="-10" dirty="0"/>
              <a:t>sarcoplásmico</a:t>
            </a:r>
            <a:r>
              <a:rPr spc="-55" dirty="0"/>
              <a:t> </a:t>
            </a:r>
            <a:r>
              <a:rPr spc="-20" dirty="0"/>
              <a:t>(SR)</a:t>
            </a:r>
          </a:p>
          <a:p>
            <a:pPr marL="241300" marR="5080" indent="-228600">
              <a:lnSpc>
                <a:spcPts val="227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sz="2100" b="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Retículo</a:t>
            </a:r>
            <a:r>
              <a:rPr sz="2100" b="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2100" b="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  <a:hlinkClick r:id="rId3"/>
              </a:rPr>
              <a:t>endoplasmático</a:t>
            </a:r>
            <a:r>
              <a:rPr sz="2100" b="0" spc="-20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de</a:t>
            </a:r>
            <a:r>
              <a:rPr sz="2100" b="0" spc="-30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las</a:t>
            </a:r>
            <a:r>
              <a:rPr sz="2100" b="0" spc="-30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células</a:t>
            </a:r>
            <a:r>
              <a:rPr sz="2100" b="0" spc="-40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musculares</a:t>
            </a:r>
            <a:r>
              <a:rPr sz="2100" b="0" spc="-35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,</a:t>
            </a:r>
            <a:r>
              <a:rPr sz="2100" b="0" spc="-25" dirty="0">
                <a:latin typeface="Calibri"/>
                <a:cs typeface="Calibri"/>
              </a:rPr>
              <a:t> que </a:t>
            </a:r>
            <a:r>
              <a:rPr sz="2100" b="0" dirty="0">
                <a:latin typeface="Calibri"/>
                <a:cs typeface="Calibri"/>
              </a:rPr>
              <a:t>forma</a:t>
            </a:r>
            <a:r>
              <a:rPr sz="2100" b="0" spc="-35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una</a:t>
            </a:r>
            <a:r>
              <a:rPr sz="2100" b="0" spc="-35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red</a:t>
            </a:r>
            <a:r>
              <a:rPr sz="2100" b="0" spc="-35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de</a:t>
            </a:r>
            <a:r>
              <a:rPr sz="2100" b="0" spc="-35" dirty="0">
                <a:latin typeface="Calibri"/>
                <a:cs typeface="Calibri"/>
              </a:rPr>
              <a:t> </a:t>
            </a:r>
            <a:r>
              <a:rPr sz="2100" b="0" dirty="0">
                <a:latin typeface="Calibri"/>
                <a:cs typeface="Calibri"/>
              </a:rPr>
              <a:t>túbulos</a:t>
            </a:r>
            <a:r>
              <a:rPr sz="2100" b="0" spc="-45" dirty="0">
                <a:latin typeface="Calibri"/>
                <a:cs typeface="Calibri"/>
              </a:rPr>
              <a:t> </a:t>
            </a:r>
            <a:r>
              <a:rPr sz="2100" b="0" spc="-25" dirty="0">
                <a:latin typeface="Calibri"/>
                <a:cs typeface="Calibri"/>
              </a:rPr>
              <a:t>L.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15"/>
              </a:spcBef>
              <a:buFont typeface="Arial MT"/>
              <a:buChar char="•"/>
              <a:tabLst>
                <a:tab pos="240665" algn="l"/>
              </a:tabLst>
            </a:pPr>
            <a:r>
              <a:rPr sz="2100" b="0" spc="-10" dirty="0">
                <a:latin typeface="Calibri"/>
                <a:cs typeface="Calibri"/>
              </a:rPr>
              <a:t>Características</a:t>
            </a:r>
            <a:endParaRPr sz="2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3994" y="1651317"/>
            <a:ext cx="5359679" cy="37195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41541" y="6294132"/>
            <a:ext cx="11466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Al-</a:t>
            </a:r>
            <a:r>
              <a:rPr sz="1200" dirty="0">
                <a:latin typeface="Calibri"/>
                <a:cs typeface="Calibri"/>
              </a:rPr>
              <a:t>Khayat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Estructura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tridimensional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filamento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grueso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miosina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humana:</a:t>
            </a:r>
            <a:r>
              <a:rPr sz="1200" spc="-10" dirty="0">
                <a:latin typeface="Calibri"/>
                <a:cs typeface="Calibri"/>
              </a:rPr>
              <a:t> implicaciones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clínicas.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Glob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Cardiol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Sci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Pract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2013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;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2013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(3)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280-</a:t>
            </a:r>
            <a:r>
              <a:rPr sz="1200" dirty="0">
                <a:latin typeface="Calibri"/>
                <a:cs typeface="Calibri"/>
              </a:rPr>
              <a:t>302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doi:</a:t>
            </a:r>
            <a:r>
              <a:rPr sz="1200" spc="-10" dirty="0">
                <a:latin typeface="Calibri"/>
                <a:cs typeface="Calibri"/>
              </a:rPr>
              <a:t> 10.5339/gcsp.2013.36.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9202" y="411480"/>
            <a:ext cx="6761162" cy="56419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49780" y="6324739"/>
            <a:ext cx="814450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Nerves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muscles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travelling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motor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cortex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brain,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via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spinal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cord.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Blamb/Shutterstock.com</a:t>
            </a:r>
            <a:endParaRPr sz="14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37EC25E-2AF5-471E-AB46-D207414A75DF}"/>
                  </a:ext>
                </a:extLst>
              </p14:cNvPr>
              <p14:cNvContentPartPr/>
              <p14:nvPr/>
            </p14:nvContentPartPr>
            <p14:xfrm>
              <a:off x="662760" y="373320"/>
              <a:ext cx="2164680" cy="43488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37EC25E-2AF5-471E-AB46-D207414A75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3400" y="363960"/>
                <a:ext cx="2183400" cy="453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0000" y="283679"/>
            <a:ext cx="9851402" cy="55414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95134" y="6144374"/>
            <a:ext cx="94449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Betts,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Gordon;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Desaix,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Peter;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Johnson,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Eddie;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Johnson,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Jody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Korol,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Oksana;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Kruse,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Dean;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Poe,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Brandon;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Wise,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James;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Womble,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Mark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D;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Young,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Kelly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50" dirty="0">
                <a:latin typeface="Calibri"/>
                <a:cs typeface="Calibri"/>
              </a:rPr>
              <a:t>A </a:t>
            </a:r>
            <a:r>
              <a:rPr sz="1200" dirty="0">
                <a:latin typeface="Calibri"/>
                <a:cs typeface="Calibri"/>
              </a:rPr>
              <a:t>(14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2023).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Anatomy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&amp;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Physiology.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Houston: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OpenStax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CNX.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16.2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Mental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status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exam.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ISBN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978-1-947172-04-</a:t>
            </a:r>
            <a:r>
              <a:rPr sz="1200" spc="-25" dirty="0">
                <a:latin typeface="Calibri"/>
                <a:cs typeface="Calibri"/>
              </a:rPr>
              <a:t>3.</a:t>
            </a:r>
            <a:endParaRPr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DAE40B7-59F0-4FAE-BB91-5B378AF70ECA}"/>
                  </a:ext>
                </a:extLst>
              </p14:cNvPr>
              <p14:cNvContentPartPr/>
              <p14:nvPr/>
            </p14:nvContentPartPr>
            <p14:xfrm>
              <a:off x="4578120" y="2360160"/>
              <a:ext cx="5712480" cy="415944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DAE40B7-59F0-4FAE-BB91-5B378AF70E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8760" y="2350800"/>
                <a:ext cx="5731200" cy="417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6885" y="12"/>
            <a:ext cx="6857644" cy="68572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2242" y="221043"/>
            <a:ext cx="7088403" cy="599183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39304" y="6362903"/>
            <a:ext cx="10506075" cy="18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latin typeface="Calibri"/>
                <a:cs typeface="Calibri"/>
              </a:rPr>
              <a:t>Squire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JM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.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Contracción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muscular: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Historia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de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los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filamentos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deslizantes,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dinámica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del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sarcómero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y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los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dos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Huxley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.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Glob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Cardiol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Sci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Pract.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2016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;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2016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(2)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:</a:t>
            </a:r>
            <a:r>
              <a:rPr sz="1050" spc="-1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p.e201611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.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doi: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10.21542/gcsp.2016.11.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523" y="1324800"/>
            <a:ext cx="10807560" cy="36629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2096" y="5873661"/>
            <a:ext cx="10550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Castets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20" dirty="0">
                <a:latin typeface="Calibri"/>
                <a:cs typeface="Calibri"/>
              </a:rPr>
              <a:t>P,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DJ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Rüegg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(2020)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Pathway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Neuromuscular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Junction: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Metabolic Player?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Front.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Mol.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Neurosci.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13:162.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doi: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10.3389/fnmol.2020.00162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2845" y="538556"/>
            <a:ext cx="7273442" cy="51285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46301" y="6443903"/>
            <a:ext cx="86607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Jahn,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R.,</a:t>
            </a:r>
            <a:r>
              <a:rPr sz="1100" spc="-20" dirty="0">
                <a:latin typeface="Calibri"/>
                <a:cs typeface="Calibri"/>
              </a:rPr>
              <a:t> Fasshauer, </a:t>
            </a:r>
            <a:r>
              <a:rPr sz="1100" dirty="0">
                <a:latin typeface="Calibri"/>
                <a:cs typeface="Calibri"/>
              </a:rPr>
              <a:t>D.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Molecular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machines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governing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exocytosis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synaptic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vesicles.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Nature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490,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201–207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(2012).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https://doi.org/10.1038/nature11320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7877" y="312115"/>
            <a:ext cx="8460714" cy="560591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7375" y="6101181"/>
            <a:ext cx="11312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Südhof,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90" dirty="0">
                <a:latin typeface="Calibri"/>
                <a:cs typeface="Calibri"/>
              </a:rPr>
              <a:t>T.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molecular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neurotransmitter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release: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synaptotagmin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beyond.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19,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1227–1231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(2013). https://doi.org/10.1038/nm.3338</a:t>
            </a:r>
            <a:endParaRPr sz="18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466959E9-FD8B-45AB-BFD2-8522E7A7B361}"/>
                  </a:ext>
                </a:extLst>
              </p14:cNvPr>
              <p14:cNvContentPartPr/>
              <p14:nvPr/>
            </p14:nvContentPartPr>
            <p14:xfrm>
              <a:off x="3444120" y="3299400"/>
              <a:ext cx="3665520" cy="16005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466959E9-FD8B-45AB-BFD2-8522E7A7B3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4760" y="3290040"/>
                <a:ext cx="3684240" cy="1619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9815" y="5962573"/>
            <a:ext cx="10608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Nature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Publishing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Group;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Springer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Science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Business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Media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LLC;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Society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Mining,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Metallurgy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Exploration </a:t>
            </a:r>
            <a:r>
              <a:rPr sz="1800" dirty="0">
                <a:latin typeface="Calibri"/>
                <a:cs typeface="Calibri"/>
              </a:rPr>
              <a:t>Inc.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(ISSN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1471-</a:t>
            </a:r>
            <a:r>
              <a:rPr sz="1800" dirty="0">
                <a:latin typeface="Calibri"/>
                <a:cs typeface="Calibri"/>
              </a:rPr>
              <a:t>0072),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Nature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Reviews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Molecular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Cell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Biology,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#7,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pages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498-</a:t>
            </a:r>
            <a:r>
              <a:rPr sz="1800" dirty="0">
                <a:latin typeface="Calibri"/>
                <a:cs typeface="Calibri"/>
              </a:rPr>
              <a:t>508,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2002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jul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402" y="555485"/>
            <a:ext cx="9219603" cy="49546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02D79F6F-29CE-4249-9414-F18D583B4391}"/>
                  </a:ext>
                </a:extLst>
              </p14:cNvPr>
              <p14:cNvContentPartPr/>
              <p14:nvPr/>
            </p14:nvContentPartPr>
            <p14:xfrm>
              <a:off x="11670840" y="6680520"/>
              <a:ext cx="304200" cy="5904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02D79F6F-29CE-4249-9414-F18D583B43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661480" y="6671160"/>
                <a:ext cx="322920" cy="7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642" y="1100874"/>
            <a:ext cx="11773801" cy="4415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877" y="157340"/>
            <a:ext cx="8657996" cy="612466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262418" y="6432740"/>
            <a:ext cx="947674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Squire</a:t>
            </a:r>
            <a:r>
              <a:rPr sz="1050" spc="7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JM</a:t>
            </a:r>
            <a:r>
              <a:rPr sz="1050" spc="5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spc="-4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050" spc="6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Contracción</a:t>
            </a:r>
            <a:r>
              <a:rPr sz="1050" spc="7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muscular:</a:t>
            </a:r>
            <a:r>
              <a:rPr sz="1050" spc="6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Historia</a:t>
            </a:r>
            <a:r>
              <a:rPr sz="1050" spc="6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191B1B"/>
                </a:solidFill>
                <a:latin typeface="Tahoma"/>
                <a:cs typeface="Tahoma"/>
              </a:rPr>
              <a:t>de</a:t>
            </a:r>
            <a:r>
              <a:rPr sz="1050" spc="6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los</a:t>
            </a:r>
            <a:r>
              <a:rPr sz="1050" spc="7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filamentos</a:t>
            </a:r>
            <a:r>
              <a:rPr sz="1050" spc="8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deslizantes,</a:t>
            </a:r>
            <a:r>
              <a:rPr sz="1050" spc="5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dinámica</a:t>
            </a:r>
            <a:r>
              <a:rPr sz="1050" spc="6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del</a:t>
            </a:r>
            <a:r>
              <a:rPr sz="1050" spc="5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sarcómero</a:t>
            </a:r>
            <a:r>
              <a:rPr sz="1050" spc="8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y</a:t>
            </a:r>
            <a:r>
              <a:rPr sz="1050" spc="5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los</a:t>
            </a:r>
            <a:r>
              <a:rPr sz="1050" spc="7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spc="50" dirty="0">
                <a:solidFill>
                  <a:srgbClr val="191B1B"/>
                </a:solidFill>
                <a:latin typeface="Tahoma"/>
                <a:cs typeface="Tahoma"/>
              </a:rPr>
              <a:t>dos</a:t>
            </a:r>
            <a:r>
              <a:rPr sz="1050" spc="7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Huxley</a:t>
            </a:r>
            <a:r>
              <a:rPr sz="1050" spc="5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050" spc="21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i="1" spc="-20" dirty="0">
                <a:solidFill>
                  <a:srgbClr val="191B1B"/>
                </a:solidFill>
                <a:latin typeface="Trebuchet MS"/>
                <a:cs typeface="Trebuchet MS"/>
              </a:rPr>
              <a:t>Glob</a:t>
            </a:r>
            <a:r>
              <a:rPr sz="1050" i="1" spc="60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050" i="1" spc="-25" dirty="0">
                <a:solidFill>
                  <a:srgbClr val="191B1B"/>
                </a:solidFill>
                <a:latin typeface="Trebuchet MS"/>
                <a:cs typeface="Trebuchet MS"/>
              </a:rPr>
              <a:t>Cardiol</a:t>
            </a:r>
            <a:r>
              <a:rPr sz="1050" i="1" spc="70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050" i="1" spc="-20" dirty="0">
                <a:solidFill>
                  <a:srgbClr val="191B1B"/>
                </a:solidFill>
                <a:latin typeface="Trebuchet MS"/>
                <a:cs typeface="Trebuchet MS"/>
              </a:rPr>
              <a:t>Sci</a:t>
            </a:r>
            <a:r>
              <a:rPr sz="1050" i="1" spc="7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050" i="1" spc="-50" dirty="0">
                <a:solidFill>
                  <a:srgbClr val="191B1B"/>
                </a:solidFill>
                <a:latin typeface="Trebuchet MS"/>
                <a:cs typeface="Trebuchet MS"/>
              </a:rPr>
              <a:t>Pract.</a:t>
            </a:r>
            <a:r>
              <a:rPr sz="1050" i="1" spc="100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2016</a:t>
            </a:r>
            <a:r>
              <a:rPr sz="1050" spc="7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spc="-105" dirty="0">
                <a:solidFill>
                  <a:srgbClr val="191B1B"/>
                </a:solidFill>
                <a:latin typeface="Tahoma"/>
                <a:cs typeface="Tahoma"/>
              </a:rPr>
              <a:t>;</a:t>
            </a:r>
            <a:r>
              <a:rPr sz="1050" spc="6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2016</a:t>
            </a:r>
            <a:r>
              <a:rPr sz="1050" spc="7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spc="-65" dirty="0">
                <a:solidFill>
                  <a:srgbClr val="191B1B"/>
                </a:solidFill>
                <a:latin typeface="Tahoma"/>
                <a:cs typeface="Tahoma"/>
              </a:rPr>
              <a:t>(2)</a:t>
            </a:r>
            <a:r>
              <a:rPr sz="1050" spc="7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spc="-50" dirty="0">
                <a:solidFill>
                  <a:srgbClr val="191B1B"/>
                </a:solidFill>
                <a:latin typeface="Tahoma"/>
                <a:cs typeface="Tahoma"/>
              </a:rPr>
              <a:t>: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p.e201611</a:t>
            </a:r>
            <a:r>
              <a:rPr sz="1050" spc="1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spc="-4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050" spc="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rgbClr val="191B1B"/>
                </a:solidFill>
                <a:latin typeface="Tahoma"/>
                <a:cs typeface="Tahoma"/>
              </a:rPr>
              <a:t>doi:</a:t>
            </a:r>
            <a:r>
              <a:rPr sz="1050" spc="3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05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ahoma"/>
                <a:cs typeface="Tahoma"/>
                <a:hlinkClick r:id="rId3"/>
              </a:rPr>
              <a:t>10.21542/gcsp.2016.11.</a:t>
            </a:r>
            <a:endParaRPr sz="1050">
              <a:latin typeface="Tahoma"/>
              <a:cs typeface="Tahom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1B3E4A6D-EF9A-4A97-92A4-3BFEA2245A72}"/>
                  </a:ext>
                </a:extLst>
              </p14:cNvPr>
              <p14:cNvContentPartPr/>
              <p14:nvPr/>
            </p14:nvContentPartPr>
            <p14:xfrm>
              <a:off x="4221720" y="3542040"/>
              <a:ext cx="2752200" cy="135324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1B3E4A6D-EF9A-4A97-92A4-3BFEA2245A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12360" y="3532680"/>
                <a:ext cx="2770920" cy="1371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443" y="146164"/>
            <a:ext cx="11277358" cy="620243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06221" y="6404660"/>
            <a:ext cx="9538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Cooke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filamento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deslizante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Physiol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2004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;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123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(6)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643-</a:t>
            </a:r>
            <a:r>
              <a:rPr sz="1600" dirty="0">
                <a:latin typeface="Calibri"/>
                <a:cs typeface="Calibri"/>
              </a:rPr>
              <a:t>656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doi: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10.1085/jgp.200409089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7842" y="621360"/>
            <a:ext cx="7737475" cy="58032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6305" y="6366497"/>
            <a:ext cx="83724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Cooke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modelo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filamento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deslizante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Gen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Physiol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2004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;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123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(6)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643-</a:t>
            </a:r>
            <a:r>
              <a:rPr sz="1400" dirty="0">
                <a:latin typeface="Calibri"/>
                <a:cs typeface="Calibri"/>
              </a:rPr>
              <a:t>656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doi: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10.1085/jgp.200409089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515" y="311391"/>
            <a:ext cx="10574274" cy="592128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6305" y="6366497"/>
            <a:ext cx="83724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Cooke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modelo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filamento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deslizante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Gen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Physiol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2004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;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123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(6)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643-</a:t>
            </a:r>
            <a:r>
              <a:rPr sz="1400" dirty="0">
                <a:latin typeface="Calibri"/>
                <a:cs typeface="Calibri"/>
              </a:rPr>
              <a:t>656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doi: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10.1085/jgp.200409089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6233" y="491401"/>
            <a:ext cx="7229525" cy="55418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80502" y="6398539"/>
            <a:ext cx="57626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Sarcomere.svg: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David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Richfield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(Slashme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user)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derivative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work: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Retama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(talk)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-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Sarcomere.svg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766102"/>
            <a:ext cx="3041637" cy="58597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39304" y="6558368"/>
            <a:ext cx="9113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Le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80" dirty="0">
                <a:latin typeface="Calibri"/>
                <a:cs typeface="Calibri"/>
              </a:rPr>
              <a:t>T,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Bhushan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60" dirty="0">
                <a:latin typeface="Calibri"/>
                <a:cs typeface="Calibri"/>
              </a:rPr>
              <a:t>V.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USMLE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Step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[Internet].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First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Aid.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2024.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62–63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p.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Available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from: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https://mhebooklibrary.com/doi/book/10.1036/9781260462050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MÚSCULO</a:t>
            </a:r>
            <a:r>
              <a:rPr spc="-180" dirty="0"/>
              <a:t> </a:t>
            </a:r>
            <a:r>
              <a:rPr spc="-10" dirty="0"/>
              <a:t>ESQUELÉTICO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882" y="241922"/>
            <a:ext cx="10461599" cy="560915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9101" y="6000737"/>
            <a:ext cx="705230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191B1B"/>
                </a:solidFill>
                <a:latin typeface="Tahoma"/>
                <a:cs typeface="Tahoma"/>
              </a:rPr>
              <a:t>Feher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65" dirty="0">
                <a:solidFill>
                  <a:srgbClr val="191B1B"/>
                </a:solidFill>
                <a:latin typeface="Tahoma"/>
                <a:cs typeface="Tahoma"/>
              </a:rPr>
              <a:t>JJ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800" spc="-6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i="1" spc="-20" dirty="0">
                <a:solidFill>
                  <a:srgbClr val="191B1B"/>
                </a:solidFill>
                <a:latin typeface="Trebuchet MS"/>
                <a:cs typeface="Trebuchet MS"/>
              </a:rPr>
              <a:t>Fisiología</a:t>
            </a:r>
            <a:r>
              <a:rPr sz="1800" i="1" spc="-70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50" dirty="0">
                <a:solidFill>
                  <a:srgbClr val="191B1B"/>
                </a:solidFill>
                <a:latin typeface="Trebuchet MS"/>
                <a:cs typeface="Trebuchet MS"/>
              </a:rPr>
              <a:t>Humana</a:t>
            </a:r>
            <a:r>
              <a:rPr sz="1800" i="1" spc="-6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191B1B"/>
                </a:solidFill>
                <a:latin typeface="Trebuchet MS"/>
                <a:cs typeface="Trebuchet MS"/>
              </a:rPr>
              <a:t>Cuantitativa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800" spc="-9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191B1B"/>
                </a:solidFill>
                <a:latin typeface="Tahoma"/>
                <a:cs typeface="Tahoma"/>
              </a:rPr>
              <a:t>Prensa</a:t>
            </a:r>
            <a:r>
              <a:rPr sz="1800" spc="-8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191B1B"/>
                </a:solidFill>
                <a:latin typeface="Tahoma"/>
                <a:cs typeface="Tahoma"/>
              </a:rPr>
              <a:t>Académica</a:t>
            </a:r>
            <a:r>
              <a:rPr sz="1800" spc="-8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165" dirty="0">
                <a:solidFill>
                  <a:srgbClr val="191B1B"/>
                </a:solidFill>
                <a:latin typeface="Tahoma"/>
                <a:cs typeface="Tahoma"/>
              </a:rPr>
              <a:t>;</a:t>
            </a:r>
            <a:r>
              <a:rPr sz="1800" spc="-9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91B1B"/>
                </a:solidFill>
                <a:latin typeface="Tahoma"/>
                <a:cs typeface="Tahoma"/>
              </a:rPr>
              <a:t>2017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042" y="642962"/>
            <a:ext cx="10667504" cy="46871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8260" y="6375501"/>
            <a:ext cx="7051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191B1B"/>
                </a:solidFill>
                <a:latin typeface="Tahoma"/>
                <a:cs typeface="Tahoma"/>
              </a:rPr>
              <a:t>Feher</a:t>
            </a:r>
            <a:r>
              <a:rPr sz="1800" spc="-9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65" dirty="0">
                <a:solidFill>
                  <a:srgbClr val="191B1B"/>
                </a:solidFill>
                <a:latin typeface="Tahoma"/>
                <a:cs typeface="Tahoma"/>
              </a:rPr>
              <a:t>JJ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800" spc="-7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i="1" spc="-10" dirty="0">
                <a:solidFill>
                  <a:srgbClr val="191B1B"/>
                </a:solidFill>
                <a:latin typeface="Trebuchet MS"/>
                <a:cs typeface="Trebuchet MS"/>
              </a:rPr>
              <a:t>Fisiología</a:t>
            </a:r>
            <a:r>
              <a:rPr sz="1800" i="1" spc="-7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50" dirty="0">
                <a:solidFill>
                  <a:srgbClr val="191B1B"/>
                </a:solidFill>
                <a:latin typeface="Trebuchet MS"/>
                <a:cs typeface="Trebuchet MS"/>
              </a:rPr>
              <a:t>Humana</a:t>
            </a:r>
            <a:r>
              <a:rPr sz="1800" i="1" spc="-70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-40" dirty="0">
                <a:solidFill>
                  <a:srgbClr val="191B1B"/>
                </a:solidFill>
                <a:latin typeface="Trebuchet MS"/>
                <a:cs typeface="Trebuchet MS"/>
              </a:rPr>
              <a:t>Cuantitativa</a:t>
            </a:r>
            <a:r>
              <a:rPr sz="1800" i="1" spc="-60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191B1B"/>
                </a:solidFill>
                <a:latin typeface="Tahoma"/>
                <a:cs typeface="Tahoma"/>
              </a:rPr>
              <a:t>Prensa</a:t>
            </a:r>
            <a:r>
              <a:rPr sz="1800" spc="-8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191B1B"/>
                </a:solidFill>
                <a:latin typeface="Tahoma"/>
                <a:cs typeface="Tahoma"/>
              </a:rPr>
              <a:t>Académica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165" dirty="0">
                <a:solidFill>
                  <a:srgbClr val="191B1B"/>
                </a:solidFill>
                <a:latin typeface="Tahoma"/>
                <a:cs typeface="Tahoma"/>
              </a:rPr>
              <a:t>;</a:t>
            </a:r>
            <a:r>
              <a:rPr sz="1800" spc="-10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91B1B"/>
                </a:solidFill>
                <a:latin typeface="Tahoma"/>
                <a:cs typeface="Tahoma"/>
              </a:rPr>
              <a:t>2017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6281" y="1458721"/>
          <a:ext cx="10469880" cy="44399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89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Criterios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Fibras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18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07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Fibras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sz="18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Apariencia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91440">
                        <a:lnSpc>
                          <a:spcPts val="208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Producción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energía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1869"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Actividad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ATPasa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miosina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91440">
                        <a:lnSpc>
                          <a:spcPts val="2080"/>
                        </a:lnSpc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Velocidad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contracción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Periodo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actividad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Ejemplo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122" y="1190155"/>
            <a:ext cx="11801157" cy="447624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400" y="165963"/>
            <a:ext cx="11478602" cy="652536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956" y="199085"/>
            <a:ext cx="11605323" cy="645839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3095">
              <a:lnSpc>
                <a:spcPct val="100000"/>
              </a:lnSpc>
              <a:spcBef>
                <a:spcPts val="100"/>
              </a:spcBef>
            </a:pPr>
            <a:r>
              <a:rPr dirty="0"/>
              <a:t>Tipos</a:t>
            </a:r>
            <a:r>
              <a:rPr spc="-30" dirty="0"/>
              <a:t> </a:t>
            </a:r>
            <a:r>
              <a:rPr dirty="0"/>
              <a:t>de</a:t>
            </a:r>
            <a:r>
              <a:rPr spc="-20" dirty="0"/>
              <a:t> contracción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6994" y="458279"/>
            <a:ext cx="8448116" cy="61149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E0388B19-3B85-47E0-980C-A2210E95A496}"/>
                  </a:ext>
                </a:extLst>
              </p14:cNvPr>
              <p14:cNvContentPartPr/>
              <p14:nvPr/>
            </p14:nvContentPartPr>
            <p14:xfrm>
              <a:off x="5044320" y="792360"/>
              <a:ext cx="4709520" cy="54144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E0388B19-3B85-47E0-980C-A2210E95A4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34960" y="783000"/>
                <a:ext cx="4728240" cy="56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793" y="735850"/>
            <a:ext cx="11378514" cy="58607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18260" y="6375501"/>
            <a:ext cx="7051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191B1B"/>
                </a:solidFill>
                <a:latin typeface="Tahoma"/>
                <a:cs typeface="Tahoma"/>
              </a:rPr>
              <a:t>Feher</a:t>
            </a:r>
            <a:r>
              <a:rPr sz="1800" spc="-9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65" dirty="0">
                <a:solidFill>
                  <a:srgbClr val="191B1B"/>
                </a:solidFill>
                <a:latin typeface="Tahoma"/>
                <a:cs typeface="Tahoma"/>
              </a:rPr>
              <a:t>JJ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800" spc="-7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i="1" spc="-10" dirty="0">
                <a:solidFill>
                  <a:srgbClr val="191B1B"/>
                </a:solidFill>
                <a:latin typeface="Trebuchet MS"/>
                <a:cs typeface="Trebuchet MS"/>
              </a:rPr>
              <a:t>Fisiología</a:t>
            </a:r>
            <a:r>
              <a:rPr sz="1800" i="1" spc="-7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50" dirty="0">
                <a:solidFill>
                  <a:srgbClr val="191B1B"/>
                </a:solidFill>
                <a:latin typeface="Trebuchet MS"/>
                <a:cs typeface="Trebuchet MS"/>
              </a:rPr>
              <a:t>Humana</a:t>
            </a:r>
            <a:r>
              <a:rPr sz="1800" i="1" spc="-70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-40" dirty="0">
                <a:solidFill>
                  <a:srgbClr val="191B1B"/>
                </a:solidFill>
                <a:latin typeface="Trebuchet MS"/>
                <a:cs typeface="Trebuchet MS"/>
              </a:rPr>
              <a:t>Cuantitativa</a:t>
            </a:r>
            <a:r>
              <a:rPr sz="1800" i="1" spc="-60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70" dirty="0">
                <a:solidFill>
                  <a:srgbClr val="191B1B"/>
                </a:solidFill>
                <a:latin typeface="Tahoma"/>
                <a:cs typeface="Tahoma"/>
              </a:rPr>
              <a:t>Prensa</a:t>
            </a:r>
            <a:r>
              <a:rPr sz="1800" spc="-8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191B1B"/>
                </a:solidFill>
                <a:latin typeface="Tahoma"/>
                <a:cs typeface="Tahoma"/>
              </a:rPr>
              <a:t>Académica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165" dirty="0">
                <a:solidFill>
                  <a:srgbClr val="191B1B"/>
                </a:solidFill>
                <a:latin typeface="Tahoma"/>
                <a:cs typeface="Tahoma"/>
              </a:rPr>
              <a:t>;</a:t>
            </a:r>
            <a:r>
              <a:rPr sz="1800" spc="-10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91B1B"/>
                </a:solidFill>
                <a:latin typeface="Tahoma"/>
                <a:cs typeface="Tahoma"/>
              </a:rPr>
              <a:t>2017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6762" y="1418767"/>
          <a:ext cx="11062335" cy="3368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7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7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22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Hipertrofia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075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Atrofia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2680">
                <a:tc>
                  <a:txBody>
                    <a:bodyPr/>
                    <a:lstStyle/>
                    <a:p>
                      <a:pPr marL="91440">
                        <a:lnSpc>
                          <a:spcPts val="207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Número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miofibrillas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2680">
                <a:tc>
                  <a:txBody>
                    <a:bodyPr/>
                    <a:lstStyle/>
                    <a:p>
                      <a:pPr marL="91440">
                        <a:lnSpc>
                          <a:spcPts val="208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Número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núcleos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4035">
              <a:lnSpc>
                <a:spcPct val="100000"/>
              </a:lnSpc>
              <a:spcBef>
                <a:spcPts val="100"/>
              </a:spcBef>
            </a:pPr>
            <a:r>
              <a:rPr dirty="0"/>
              <a:t>Músculo</a:t>
            </a:r>
            <a:r>
              <a:rPr spc="-45" dirty="0"/>
              <a:t> </a:t>
            </a:r>
            <a:r>
              <a:rPr spc="-20" dirty="0"/>
              <a:t>Liso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077" y="1037894"/>
            <a:ext cx="11505590" cy="5680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9053" y="6214224"/>
            <a:ext cx="7051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191B1B"/>
                </a:solidFill>
                <a:latin typeface="Tahoma"/>
                <a:cs typeface="Tahoma"/>
              </a:rPr>
              <a:t>Feher</a:t>
            </a:r>
            <a:r>
              <a:rPr sz="1800" spc="-9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65" dirty="0">
                <a:solidFill>
                  <a:srgbClr val="191B1B"/>
                </a:solidFill>
                <a:latin typeface="Tahoma"/>
                <a:cs typeface="Tahoma"/>
              </a:rPr>
              <a:t>JJ</a:t>
            </a:r>
            <a:r>
              <a:rPr sz="1800" spc="-9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 </a:t>
            </a:r>
            <a:r>
              <a:rPr sz="1800" i="1" spc="-10" dirty="0">
                <a:solidFill>
                  <a:srgbClr val="191B1B"/>
                </a:solidFill>
                <a:latin typeface="Trebuchet MS"/>
                <a:cs typeface="Trebuchet MS"/>
              </a:rPr>
              <a:t>Fisiología</a:t>
            </a:r>
            <a:r>
              <a:rPr sz="1800" i="1" spc="-7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50" dirty="0">
                <a:solidFill>
                  <a:srgbClr val="191B1B"/>
                </a:solidFill>
                <a:latin typeface="Trebuchet MS"/>
                <a:cs typeface="Trebuchet MS"/>
              </a:rPr>
              <a:t>Humana</a:t>
            </a:r>
            <a:r>
              <a:rPr sz="1800" i="1" spc="-8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191B1B"/>
                </a:solidFill>
                <a:latin typeface="Trebuchet MS"/>
                <a:cs typeface="Trebuchet MS"/>
              </a:rPr>
              <a:t>Cuantitativa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800" spc="-9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191B1B"/>
                </a:solidFill>
                <a:latin typeface="Tahoma"/>
                <a:cs typeface="Tahoma"/>
              </a:rPr>
              <a:t>Prensa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191B1B"/>
                </a:solidFill>
                <a:latin typeface="Tahoma"/>
                <a:cs typeface="Tahoma"/>
              </a:rPr>
              <a:t>Académica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165" dirty="0">
                <a:solidFill>
                  <a:srgbClr val="191B1B"/>
                </a:solidFill>
                <a:latin typeface="Tahoma"/>
                <a:cs typeface="Tahoma"/>
              </a:rPr>
              <a:t>;</a:t>
            </a:r>
            <a:r>
              <a:rPr sz="1800" spc="-10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91B1B"/>
                </a:solidFill>
                <a:latin typeface="Tahoma"/>
                <a:cs typeface="Tahoma"/>
              </a:rPr>
              <a:t>2017</a:t>
            </a:r>
            <a:endParaRPr sz="18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75485" y="2074315"/>
          <a:ext cx="9896475" cy="3837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8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8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59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Músculo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liso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sola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unidad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075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Músculo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liso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multiunitario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E80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5350">
                <a:tc>
                  <a:txBody>
                    <a:bodyPr/>
                    <a:lstStyle/>
                    <a:p>
                      <a:pPr marL="92075">
                        <a:lnSpc>
                          <a:spcPts val="207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Definición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92075">
                        <a:lnSpc>
                          <a:spcPts val="2070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Ubicación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874" y="351002"/>
            <a:ext cx="10943640" cy="58478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04697" y="6353898"/>
            <a:ext cx="7052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191B1B"/>
                </a:solidFill>
                <a:latin typeface="Tahoma"/>
                <a:cs typeface="Tahoma"/>
              </a:rPr>
              <a:t>Feher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65" dirty="0">
                <a:solidFill>
                  <a:srgbClr val="191B1B"/>
                </a:solidFill>
                <a:latin typeface="Tahoma"/>
                <a:cs typeface="Tahoma"/>
              </a:rPr>
              <a:t>JJ</a:t>
            </a:r>
            <a:r>
              <a:rPr sz="1800" spc="-8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800" spc="-6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i="1" spc="-20" dirty="0">
                <a:solidFill>
                  <a:srgbClr val="191B1B"/>
                </a:solidFill>
                <a:latin typeface="Trebuchet MS"/>
                <a:cs typeface="Trebuchet MS"/>
              </a:rPr>
              <a:t>Fisiología</a:t>
            </a:r>
            <a:r>
              <a:rPr sz="1800" i="1" spc="-6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50" dirty="0">
                <a:solidFill>
                  <a:srgbClr val="191B1B"/>
                </a:solidFill>
                <a:latin typeface="Trebuchet MS"/>
                <a:cs typeface="Trebuchet MS"/>
              </a:rPr>
              <a:t>Humana</a:t>
            </a:r>
            <a:r>
              <a:rPr sz="1800" i="1" spc="-7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191B1B"/>
                </a:solidFill>
                <a:latin typeface="Trebuchet MS"/>
                <a:cs typeface="Trebuchet MS"/>
              </a:rPr>
              <a:t>Cuantitativa</a:t>
            </a:r>
            <a:r>
              <a:rPr sz="1800" i="1" spc="-2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191B1B"/>
                </a:solidFill>
                <a:latin typeface="Tahoma"/>
                <a:cs typeface="Tahoma"/>
              </a:rPr>
              <a:t>Prensa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191B1B"/>
                </a:solidFill>
                <a:latin typeface="Tahoma"/>
                <a:cs typeface="Tahoma"/>
              </a:rPr>
              <a:t>Académica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165" dirty="0">
                <a:solidFill>
                  <a:srgbClr val="191B1B"/>
                </a:solidFill>
                <a:latin typeface="Tahoma"/>
                <a:cs typeface="Tahoma"/>
              </a:rPr>
              <a:t>;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91B1B"/>
                </a:solidFill>
                <a:latin typeface="Tahoma"/>
                <a:cs typeface="Tahoma"/>
              </a:rPr>
              <a:t>2017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6320" y="399961"/>
            <a:ext cx="7482598" cy="57679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65975" y="6428778"/>
            <a:ext cx="11438890" cy="390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Liu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Orthobullets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Team. </a:t>
            </a:r>
            <a:r>
              <a:rPr sz="1200" dirty="0">
                <a:latin typeface="Calibri"/>
                <a:cs typeface="Calibri"/>
              </a:rPr>
              <a:t>Smooth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muscle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contractions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[Internet].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Medbullets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Step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1;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updated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30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Jun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2020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[cited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2025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Aug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17].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Available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from: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https://step1.medbullets.com/msk/11202 contractions.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1685" y="337680"/>
            <a:ext cx="6846481" cy="59785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6780" y="6367945"/>
            <a:ext cx="10773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Cooke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filamento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deslizante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Physiol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2004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;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123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(6)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p.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643-</a:t>
            </a:r>
            <a:r>
              <a:rPr sz="1800" dirty="0">
                <a:latin typeface="Calibri"/>
                <a:cs typeface="Calibri"/>
              </a:rPr>
              <a:t>656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doi: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10.1085/jgp.200409089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800" y="379437"/>
            <a:ext cx="9129598" cy="60980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6094" y="6510134"/>
            <a:ext cx="10356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ahoma"/>
                <a:cs typeface="Tahoma"/>
              </a:rPr>
              <a:t>Le</a:t>
            </a:r>
            <a:r>
              <a:rPr sz="1200" spc="12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T,</a:t>
            </a:r>
            <a:r>
              <a:rPr sz="1200" spc="114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Bhushan</a:t>
            </a:r>
            <a:r>
              <a:rPr sz="1200" spc="13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V.</a:t>
            </a:r>
            <a:r>
              <a:rPr sz="1200" spc="114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USMLE</a:t>
            </a:r>
            <a:r>
              <a:rPr sz="1200" spc="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Step</a:t>
            </a:r>
            <a:r>
              <a:rPr sz="1200" spc="1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1</a:t>
            </a:r>
            <a:r>
              <a:rPr sz="1200" spc="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[Internet].</a:t>
            </a:r>
            <a:r>
              <a:rPr sz="1200" spc="1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First</a:t>
            </a:r>
            <a:r>
              <a:rPr sz="1200" spc="114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Aid.</a:t>
            </a:r>
            <a:r>
              <a:rPr sz="1200" spc="1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2024.</a:t>
            </a:r>
            <a:r>
              <a:rPr sz="1200" spc="1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62–63</a:t>
            </a:r>
            <a:r>
              <a:rPr sz="1200" spc="1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p.</a:t>
            </a:r>
            <a:r>
              <a:rPr sz="1200" spc="1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Available</a:t>
            </a:r>
            <a:r>
              <a:rPr sz="1200" spc="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from:</a:t>
            </a:r>
            <a:r>
              <a:rPr sz="1200" spc="1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https://mhebooklibrary.com/doi/book/10.1036/9781260462050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9061" y="2524582"/>
            <a:ext cx="54686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Músculo</a:t>
            </a:r>
            <a:r>
              <a:rPr spc="-55" dirty="0"/>
              <a:t> </a:t>
            </a:r>
            <a:r>
              <a:rPr spc="-10" dirty="0"/>
              <a:t>Cardiaco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3341" y="408935"/>
            <a:ext cx="5958840" cy="5214248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6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Tipo: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tejido</a:t>
            </a:r>
            <a:r>
              <a:rPr sz="2000" spc="-5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muscular</a:t>
            </a:r>
            <a:r>
              <a:rPr sz="2000" spc="-6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spc="-10" dirty="0">
                <a:highlight>
                  <a:srgbClr val="FFFF00"/>
                </a:highlight>
                <a:latin typeface="Calibri"/>
                <a:cs typeface="Calibri"/>
              </a:rPr>
              <a:t>estriado</a:t>
            </a:r>
            <a:endParaRPr sz="20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241300" marR="789305" indent="-228600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Localización: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paredes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cavidades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cardíacas (miocardio)</a:t>
            </a:r>
            <a:endParaRPr sz="20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Regulación: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control</a:t>
            </a:r>
            <a:r>
              <a:rPr sz="2000" spc="-6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spc="-10" dirty="0">
                <a:highlight>
                  <a:srgbClr val="FFFF00"/>
                </a:highlight>
                <a:latin typeface="Calibri"/>
                <a:cs typeface="Calibri"/>
              </a:rPr>
              <a:t>involuntario</a:t>
            </a:r>
            <a:r>
              <a:rPr sz="20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→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células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marcapaso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+ </a:t>
            </a:r>
            <a:r>
              <a:rPr sz="2000" spc="-10" dirty="0">
                <a:latin typeface="Calibri"/>
                <a:cs typeface="Calibri"/>
              </a:rPr>
              <a:t>sistema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nervioso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autónomo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Función: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contracción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coordinada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corazón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b="1" dirty="0">
                <a:latin typeface="Calibri"/>
                <a:cs typeface="Calibri"/>
              </a:rPr>
              <a:t>Anatomía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microscópica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Células</a:t>
            </a:r>
            <a:r>
              <a:rPr sz="20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spc="-10" dirty="0">
                <a:highlight>
                  <a:srgbClr val="FFFF00"/>
                </a:highlight>
                <a:latin typeface="Calibri"/>
                <a:cs typeface="Calibri"/>
              </a:rPr>
              <a:t>ramificadas</a:t>
            </a:r>
            <a:r>
              <a:rPr sz="2000" spc="-1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mononucleadas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núcleo</a:t>
            </a:r>
            <a:r>
              <a:rPr sz="2000" spc="-5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spc="-10" dirty="0">
                <a:highlight>
                  <a:srgbClr val="FFFF00"/>
                </a:highlight>
                <a:latin typeface="Calibri"/>
                <a:cs typeface="Calibri"/>
              </a:rPr>
              <a:t>central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Abundantes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mitocondrias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(alto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metabolismo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aeróbico)</a:t>
            </a:r>
            <a:endParaRPr sz="2000" dirty="0">
              <a:latin typeface="Calibri"/>
              <a:cs typeface="Calibri"/>
            </a:endParaRPr>
          </a:p>
          <a:p>
            <a:pPr marL="241300" marR="544195" indent="-228600">
              <a:lnSpc>
                <a:spcPts val="216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Sincitio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cardíaco: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cardiomiocitos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unidos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discos </a:t>
            </a:r>
            <a:r>
              <a:rPr sz="2000" spc="-20" dirty="0">
                <a:latin typeface="Calibri"/>
                <a:cs typeface="Calibri"/>
              </a:rPr>
              <a:t>intercalares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→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transmisión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rápida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contracción sincronizada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spc="-10" dirty="0">
                <a:highlight>
                  <a:srgbClr val="FFFF00"/>
                </a:highlight>
                <a:latin typeface="Calibri"/>
                <a:cs typeface="Calibri"/>
              </a:rPr>
              <a:t>Sarcolema</a:t>
            </a:r>
            <a:r>
              <a:rPr sz="20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con</a:t>
            </a:r>
            <a:r>
              <a:rPr sz="2000" spc="-3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túbulos</a:t>
            </a:r>
            <a:r>
              <a:rPr sz="2000" spc="-50" dirty="0">
                <a:highlight>
                  <a:srgbClr val="FFFF00"/>
                </a:highlight>
                <a:latin typeface="Calibri"/>
                <a:cs typeface="Calibri"/>
              </a:rPr>
              <a:t> T</a:t>
            </a:r>
            <a:endParaRPr sz="20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Retículo</a:t>
            </a:r>
            <a:r>
              <a:rPr sz="2000" spc="-7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spc="-10" dirty="0">
                <a:highlight>
                  <a:srgbClr val="FFFF00"/>
                </a:highlight>
                <a:latin typeface="Calibri"/>
                <a:cs typeface="Calibri"/>
              </a:rPr>
              <a:t>sarcoplásmico:</a:t>
            </a:r>
            <a:r>
              <a:rPr sz="2000" spc="-7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principal</a:t>
            </a:r>
            <a:r>
              <a:rPr sz="2000" spc="-8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reservorio</a:t>
            </a:r>
            <a:r>
              <a:rPr sz="2000" spc="-7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de</a:t>
            </a:r>
            <a:r>
              <a:rPr sz="2000" spc="-7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spc="-20" dirty="0">
                <a:highlight>
                  <a:srgbClr val="FFFF00"/>
                </a:highlight>
                <a:latin typeface="Calibri"/>
                <a:cs typeface="Calibri"/>
              </a:rPr>
              <a:t>Ca²⁺</a:t>
            </a:r>
            <a:endParaRPr sz="2000" dirty="0">
              <a:highlight>
                <a:srgbClr val="FFFF00"/>
              </a:highlight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9919" y="1019149"/>
            <a:ext cx="4310278" cy="42973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9053" y="6214224"/>
            <a:ext cx="7051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solidFill>
                  <a:srgbClr val="191B1B"/>
                </a:solidFill>
                <a:latin typeface="Tahoma"/>
                <a:cs typeface="Tahoma"/>
              </a:rPr>
              <a:t>Feher</a:t>
            </a:r>
            <a:r>
              <a:rPr sz="1800" spc="-9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65" dirty="0">
                <a:solidFill>
                  <a:srgbClr val="191B1B"/>
                </a:solidFill>
                <a:latin typeface="Tahoma"/>
                <a:cs typeface="Tahoma"/>
              </a:rPr>
              <a:t>JJ</a:t>
            </a:r>
            <a:r>
              <a:rPr sz="1800" spc="-9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 </a:t>
            </a:r>
            <a:r>
              <a:rPr sz="1800" i="1" spc="-10" dirty="0">
                <a:solidFill>
                  <a:srgbClr val="191B1B"/>
                </a:solidFill>
                <a:latin typeface="Trebuchet MS"/>
                <a:cs typeface="Trebuchet MS"/>
              </a:rPr>
              <a:t>Fisiología</a:t>
            </a:r>
            <a:r>
              <a:rPr sz="1800" i="1" spc="-7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50" dirty="0">
                <a:solidFill>
                  <a:srgbClr val="191B1B"/>
                </a:solidFill>
                <a:latin typeface="Trebuchet MS"/>
                <a:cs typeface="Trebuchet MS"/>
              </a:rPr>
              <a:t>Humana</a:t>
            </a:r>
            <a:r>
              <a:rPr sz="1800" i="1" spc="-85" dirty="0">
                <a:solidFill>
                  <a:srgbClr val="191B1B"/>
                </a:solidFill>
                <a:latin typeface="Trebuchet MS"/>
                <a:cs typeface="Trebuchet MS"/>
              </a:rPr>
              <a:t> </a:t>
            </a:r>
            <a:r>
              <a:rPr sz="1800" i="1" spc="-35" dirty="0">
                <a:solidFill>
                  <a:srgbClr val="191B1B"/>
                </a:solidFill>
                <a:latin typeface="Trebuchet MS"/>
                <a:cs typeface="Trebuchet MS"/>
              </a:rPr>
              <a:t>Cuantitativa </a:t>
            </a:r>
            <a:r>
              <a:rPr sz="1800" spc="-80" dirty="0">
                <a:solidFill>
                  <a:srgbClr val="191B1B"/>
                </a:solidFill>
                <a:latin typeface="Tahoma"/>
                <a:cs typeface="Tahoma"/>
              </a:rPr>
              <a:t>.</a:t>
            </a:r>
            <a:r>
              <a:rPr sz="1800" spc="-95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191B1B"/>
                </a:solidFill>
                <a:latin typeface="Tahoma"/>
                <a:cs typeface="Tahoma"/>
              </a:rPr>
              <a:t>Prensa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65" dirty="0">
                <a:solidFill>
                  <a:srgbClr val="191B1B"/>
                </a:solidFill>
                <a:latin typeface="Tahoma"/>
                <a:cs typeface="Tahoma"/>
              </a:rPr>
              <a:t>Académica</a:t>
            </a:r>
            <a:r>
              <a:rPr sz="1800" spc="-9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165" dirty="0">
                <a:solidFill>
                  <a:srgbClr val="191B1B"/>
                </a:solidFill>
                <a:latin typeface="Tahoma"/>
                <a:cs typeface="Tahoma"/>
              </a:rPr>
              <a:t>;</a:t>
            </a:r>
            <a:r>
              <a:rPr sz="1800" spc="-100" dirty="0">
                <a:solidFill>
                  <a:srgbClr val="191B1B"/>
                </a:solidFill>
                <a:latin typeface="Tahoma"/>
                <a:cs typeface="Tahoma"/>
              </a:rPr>
              <a:t> </a:t>
            </a:r>
            <a:r>
              <a:rPr sz="1800" spc="-20" dirty="0">
                <a:solidFill>
                  <a:srgbClr val="191B1B"/>
                </a:solidFill>
                <a:latin typeface="Tahoma"/>
                <a:cs typeface="Tahoma"/>
              </a:rPr>
              <a:t>2017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7996" y="545769"/>
            <a:ext cx="6958799" cy="595223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963" y="12"/>
            <a:ext cx="11913476" cy="685726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2515" y="311391"/>
            <a:ext cx="10574274" cy="592128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6305" y="6366497"/>
            <a:ext cx="837247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Cooke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modelo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filamento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deslizante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Gen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Physiol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2004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;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123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(6)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643-</a:t>
            </a:r>
            <a:r>
              <a:rPr sz="1400" dirty="0">
                <a:latin typeface="Calibri"/>
                <a:cs typeface="Calibri"/>
              </a:rPr>
              <a:t>656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doi: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10.1085/jgp.200409089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4352</TotalTime>
  <Words>1145</Words>
  <Application>Microsoft Office PowerPoint</Application>
  <PresentationFormat>Panorámica</PresentationFormat>
  <Paragraphs>100</Paragraphs>
  <Slides>43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2" baseType="lpstr">
      <vt:lpstr>Arial Black</vt:lpstr>
      <vt:lpstr>Arial MT</vt:lpstr>
      <vt:lpstr>Calibri</vt:lpstr>
      <vt:lpstr>Calibri Light</vt:lpstr>
      <vt:lpstr>Lucida Sans Unicode</vt:lpstr>
      <vt:lpstr>Tahoma</vt:lpstr>
      <vt:lpstr>Times New Roman</vt:lpstr>
      <vt:lpstr>Trebuchet MS</vt:lpstr>
      <vt:lpstr>Office Theme</vt:lpstr>
      <vt:lpstr>UNIYERIDAD PRVADA SAN jUAN BAUTISTA</vt:lpstr>
      <vt:lpstr>SESIÓN PRÁCTICA - SEMANA 2</vt:lpstr>
      <vt:lpstr>Presentación de PowerPoint</vt:lpstr>
      <vt:lpstr>Presentación de PowerPoint</vt:lpstr>
      <vt:lpstr>Presentación de PowerPoint</vt:lpstr>
      <vt:lpstr>Presentación de PowerPoint</vt:lpstr>
      <vt:lpstr>Estructuras de las células esqueléticas</vt:lpstr>
      <vt:lpstr>Sarcoplasma Citoplasma de la célula muscular Contenido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MÚSCULO ESQUELÉTICO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Tipos de contracción</vt:lpstr>
      <vt:lpstr>Presentación de PowerPoint</vt:lpstr>
      <vt:lpstr>Presentación de PowerPoint</vt:lpstr>
      <vt:lpstr>Músculo Liso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Músculo Cardiaco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UNIYERIDAD PRVADA SAN jUAN BAUTISTA</dc:title>
  <dc:creator>Sergio Barboza Panaifo</dc:creator>
  <cp:lastModifiedBy>Yhadira Gonzales</cp:lastModifiedBy>
  <cp:revision>9</cp:revision>
  <dcterms:created xsi:type="dcterms:W3CDTF">2025-09-01T15:17:04Z</dcterms:created>
  <dcterms:modified xsi:type="dcterms:W3CDTF">2025-09-16T04:06:37Z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2025-09-01T00:00:00Z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7.4</vt:lpwstr>
  </property>
  <property fmtid="{D5CDD505-2E9C-101B-9397-08002B2CF9AE}" pid="5" name="LastSaved">
    <vt:filetime>2025-09-01T00:00:00Z</vt:filetime>
  </property>
</Properties>
</file>